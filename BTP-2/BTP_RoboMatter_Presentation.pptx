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26e0c28d2a490f" /><Relationship Type="http://schemas.openxmlformats.org/officeDocument/2006/relationships/extended-properties" Target="/docProps/app.xml" Id="R6960460ca7f0459b" /><Relationship Type="http://schemas.openxmlformats.org/officeDocument/2006/relationships/officeDocument" Target="/ppt/presentation.xml" Id="R7c3c09cf50a2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5a6168d5147a8"/>
  </p:sldMasterIdLst>
  <p:notesMasterIdLst>
    <p:notesMasterId xmlns:r="http://schemas.openxmlformats.org/officeDocument/2006/relationships" r:id="R9c92a86485a740bc"/>
  </p:notesMasterIdLst>
  <p:sldIdLst>
    <p:sldId xmlns:r="http://schemas.openxmlformats.org/officeDocument/2006/relationships" id="256" r:id="R32828d867b6a4e39"/>
    <p:sldId xmlns:r="http://schemas.openxmlformats.org/officeDocument/2006/relationships" id="257" r:id="Rcb1cb660ce7e4db7"/>
    <p:sldId xmlns:r="http://schemas.openxmlformats.org/officeDocument/2006/relationships" id="258" r:id="Rbf5be5a6ff9e40ba"/>
    <p:sldId xmlns:r="http://schemas.openxmlformats.org/officeDocument/2006/relationships" id="259" r:id="Rdaf13eee78e54a3a"/>
    <p:sldId xmlns:r="http://schemas.openxmlformats.org/officeDocument/2006/relationships" id="260" r:id="Rcda5a6c5245e46e7"/>
    <p:sldId xmlns:r="http://schemas.openxmlformats.org/officeDocument/2006/relationships" id="261" r:id="R325e030877904909"/>
    <p:sldId xmlns:r="http://schemas.openxmlformats.org/officeDocument/2006/relationships" id="262" r:id="R8ebc5ec160704e72"/>
    <p:sldId xmlns:r="http://schemas.openxmlformats.org/officeDocument/2006/relationships" id="263" r:id="Raa080aaf729b492c"/>
    <p:sldId xmlns:r="http://schemas.openxmlformats.org/officeDocument/2006/relationships" id="264" r:id="R29fd7ae246584b93"/>
    <p:sldId xmlns:r="http://schemas.openxmlformats.org/officeDocument/2006/relationships" id="265" r:id="R14060f6d97a14e2d"/>
    <p:sldId xmlns:r="http://schemas.openxmlformats.org/officeDocument/2006/relationships" id="266" r:id="R95f4cec33eaa4fe7"/>
    <p:sldId xmlns:r="http://schemas.openxmlformats.org/officeDocument/2006/relationships" id="267" r:id="Rf52daca379cc4aa5"/>
    <p:sldId xmlns:r="http://schemas.openxmlformats.org/officeDocument/2006/relationships" id="268" r:id="Rcdacfdb143ff4734"/>
    <p:sldId xmlns:r="http://schemas.openxmlformats.org/officeDocument/2006/relationships" id="269" r:id="R4ff3b1aceef44c6c"/>
    <p:sldId xmlns:r="http://schemas.openxmlformats.org/officeDocument/2006/relationships" id="270" r:id="R17a9b8b728ce4ddb"/>
    <p:sldId xmlns:r="http://schemas.openxmlformats.org/officeDocument/2006/relationships" id="271" r:id="R35d652e1b34f4e50"/>
    <p:sldId xmlns:r="http://schemas.openxmlformats.org/officeDocument/2006/relationships" id="272" r:id="R5428b6755fbe44fb"/>
    <p:sldId xmlns:r="http://schemas.openxmlformats.org/officeDocument/2006/relationships" id="273" r:id="Rc9be730b625543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5a6168d5147a8" /><Relationship Type="http://schemas.openxmlformats.org/officeDocument/2006/relationships/theme" Target="/ppt/theme/theme1.xml" Id="R0553b6f9aaed4bf8" /><Relationship Type="http://schemas.openxmlformats.org/officeDocument/2006/relationships/notesMaster" Target="/ppt/notesMasters/notesMaster1.xml" Id="R9c92a86485a740bc" /><Relationship Type="http://schemas.openxmlformats.org/officeDocument/2006/relationships/presProps" Target="/ppt/presProps.xml" Id="R1d19ef7b4d86445f" /><Relationship Type="http://schemas.openxmlformats.org/officeDocument/2006/relationships/viewProps" Target="/ppt/viewProps.xml" Id="R039f32e1ddd442eb" /><Relationship Type="http://schemas.openxmlformats.org/officeDocument/2006/relationships/tableStyles" Target="/ppt/tableStyles.xml" Id="Ra4886a84f7254b79" /><Relationship Type="http://schemas.openxmlformats.org/officeDocument/2006/relationships/slide" Target="/ppt/slides/slide1.xml" Id="R32828d867b6a4e39" /><Relationship Type="http://schemas.openxmlformats.org/officeDocument/2006/relationships/slide" Target="/ppt/slides/slide2.xml" Id="Rcb1cb660ce7e4db7" /><Relationship Type="http://schemas.openxmlformats.org/officeDocument/2006/relationships/slide" Target="/ppt/slides/slide3.xml" Id="Rbf5be5a6ff9e40ba" /><Relationship Type="http://schemas.openxmlformats.org/officeDocument/2006/relationships/slide" Target="/ppt/slides/slide4.xml" Id="Rdaf13eee78e54a3a" /><Relationship Type="http://schemas.openxmlformats.org/officeDocument/2006/relationships/slide" Target="/ppt/slides/slide5.xml" Id="Rcda5a6c5245e46e7" /><Relationship Type="http://schemas.openxmlformats.org/officeDocument/2006/relationships/slide" Target="/ppt/slides/slide6.xml" Id="R325e030877904909" /><Relationship Type="http://schemas.openxmlformats.org/officeDocument/2006/relationships/slide" Target="/ppt/slides/slide7.xml" Id="R8ebc5ec160704e72" /><Relationship Type="http://schemas.openxmlformats.org/officeDocument/2006/relationships/slide" Target="/ppt/slides/slide8.xml" Id="Raa080aaf729b492c" /><Relationship Type="http://schemas.openxmlformats.org/officeDocument/2006/relationships/slide" Target="/ppt/slides/slide9.xml" Id="R29fd7ae246584b93" /><Relationship Type="http://schemas.openxmlformats.org/officeDocument/2006/relationships/slide" Target="/ppt/slides/slide10.xml" Id="R14060f6d97a14e2d" /><Relationship Type="http://schemas.openxmlformats.org/officeDocument/2006/relationships/slide" Target="/ppt/slides/slide11.xml" Id="R95f4cec33eaa4fe7" /><Relationship Type="http://schemas.openxmlformats.org/officeDocument/2006/relationships/slide" Target="/ppt/slides/slide12.xml" Id="Rf52daca379cc4aa5" /><Relationship Type="http://schemas.openxmlformats.org/officeDocument/2006/relationships/slide" Target="/ppt/slides/slide13.xml" Id="Rcdacfdb143ff4734" /><Relationship Type="http://schemas.openxmlformats.org/officeDocument/2006/relationships/slide" Target="/ppt/slides/slide14.xml" Id="R4ff3b1aceef44c6c" /><Relationship Type="http://schemas.openxmlformats.org/officeDocument/2006/relationships/slide" Target="/ppt/slides/slide15.xml" Id="R17a9b8b728ce4ddb" /><Relationship Type="http://schemas.openxmlformats.org/officeDocument/2006/relationships/slide" Target="/ppt/slides/slide16.xml" Id="R35d652e1b34f4e50" /><Relationship Type="http://schemas.openxmlformats.org/officeDocument/2006/relationships/slide" Target="/ppt/slides/slide17.xml" Id="R5428b6755fbe44fb" /><Relationship Type="http://schemas.openxmlformats.org/officeDocument/2006/relationships/slide" Target="/ppt/slides/slide18.xml" Id="Rc9be730b6255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34206d9aee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b7ef9ecd2425c" /><Relationship Type="http://schemas.openxmlformats.org/officeDocument/2006/relationships/notesMaster" Target="/ppt/notesMasters/notesMaster1.xml" Id="Red29ceff3f6c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bfacafd48421b" /><Relationship Type="http://schemas.openxmlformats.org/officeDocument/2006/relationships/notesMaster" Target="/ppt/notesMasters/notesMaster1.xml" Id="R0a14898219cd44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f5e752ebdb4bc8" /><Relationship Type="http://schemas.openxmlformats.org/officeDocument/2006/relationships/notesMaster" Target="/ppt/notesMasters/notesMaster1.xml" Id="R2f42ff5987cf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48d2b0c7ed4735" /><Relationship Type="http://schemas.openxmlformats.org/officeDocument/2006/relationships/notesMaster" Target="/ppt/notesMasters/notesMaster1.xml" Id="Rdf8cf512871f4b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1e39135c364d85" /><Relationship Type="http://schemas.openxmlformats.org/officeDocument/2006/relationships/notesMaster" Target="/ppt/notesMasters/notesMaster1.xml" Id="R25c178cd618143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7a9407f082480b" /><Relationship Type="http://schemas.openxmlformats.org/officeDocument/2006/relationships/notesMaster" Target="/ppt/notesMasters/notesMaster1.xml" Id="R7f567d0cf4f2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f9a42a861e4fe5" /><Relationship Type="http://schemas.openxmlformats.org/officeDocument/2006/relationships/notesMaster" Target="/ppt/notesMasters/notesMaster1.xml" Id="R475fb144a72a45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1931d0d2c4540" /><Relationship Type="http://schemas.openxmlformats.org/officeDocument/2006/relationships/notesMaster" Target="/ppt/notesMasters/notesMaster1.xml" Id="R695500e0afbe47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b53c5280444eed" /><Relationship Type="http://schemas.openxmlformats.org/officeDocument/2006/relationships/notesMaster" Target="/ppt/notesMasters/notesMaster1.xml" Id="R1113fc60bda8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4444715af44458" /><Relationship Type="http://schemas.openxmlformats.org/officeDocument/2006/relationships/notesMaster" Target="/ppt/notesMasters/notesMaster1.xml" Id="Rdba9a9d7628e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d858796d284a9f" /><Relationship Type="http://schemas.openxmlformats.org/officeDocument/2006/relationships/notesMaster" Target="/ppt/notesMasters/notesMaster1.xml" Id="R06844dbf85bb47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65b01b11464ca3" /><Relationship Type="http://schemas.openxmlformats.org/officeDocument/2006/relationships/notesMaster" Target="/ppt/notesMasters/notesMaster1.xml" Id="R7e016c51c2f542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581f64f27a4680" /><Relationship Type="http://schemas.openxmlformats.org/officeDocument/2006/relationships/notesMaster" Target="/ppt/notesMasters/notesMaster1.xml" Id="Rab1094f9eeac4e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83116c3d824d3c" /><Relationship Type="http://schemas.openxmlformats.org/officeDocument/2006/relationships/notesMaster" Target="/ppt/notesMasters/notesMaster1.xml" Id="Ra7e838b2bc5a44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b5bbb4c6064f6e" /><Relationship Type="http://schemas.openxmlformats.org/officeDocument/2006/relationships/notesMaster" Target="/ppt/notesMasters/notesMaster1.xml" Id="R16ba6392a97746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e15a2c8cba49f4" /><Relationship Type="http://schemas.openxmlformats.org/officeDocument/2006/relationships/notesMaster" Target="/ppt/notesMasters/notesMaster1.xml" Id="R4907e456b1d142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326dd35f334314" /><Relationship Type="http://schemas.openxmlformats.org/officeDocument/2006/relationships/notesMaster" Target="/ppt/notesMasters/notesMaster1.xml" Id="Ra8fd47715c1747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a5b21a9dd0412c" /><Relationship Type="http://schemas.openxmlformats.org/officeDocument/2006/relationships/notesMaster" Target="/ppt/notesMasters/notesMaster1.xml" Id="Ra0aa7695fca4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6620870fa47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b378d83a5b44aad" /><Relationship Type="http://schemas.openxmlformats.org/officeDocument/2006/relationships/slideLayout" Target="/ppt/slideLayouts/slideLayout2.xml" Id="R3f5d07960a5643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d07960a56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2d93bac0a438c" /><Relationship Type="http://schemas.openxmlformats.org/officeDocument/2006/relationships/image" Target="/ppt/media/image.png" Id="Re784215aef5b4792" /><Relationship Type="http://schemas.openxmlformats.org/officeDocument/2006/relationships/notesSlide" Target="/ppt/notesSlides/notesSlide1.xml" Id="R83c6cd414386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2c85c6ee184f46" /><Relationship Type="http://schemas.openxmlformats.org/officeDocument/2006/relationships/notesSlide" Target="/ppt/notesSlides/notesSlide2.xml" Id="R6d06afc498d9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06056c0c04070" /><Relationship Type="http://schemas.openxmlformats.org/officeDocument/2006/relationships/image" Target="/ppt/media/image2.png" Id="Rcd4e953abe254e41" /><Relationship Type="http://schemas.openxmlformats.org/officeDocument/2006/relationships/notesSlide" Target="/ppt/notesSlides/notesSlide3.xml" Id="R54ac396b641e48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20afe968c42d2" /><Relationship Type="http://schemas.openxmlformats.org/officeDocument/2006/relationships/notesSlide" Target="/ppt/notesSlides/notesSlide4.xml" Id="R406266eabd0b44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f24c3cd45463f" /><Relationship Type="http://schemas.openxmlformats.org/officeDocument/2006/relationships/notesSlide" Target="/ppt/notesSlides/notesSlide5.xml" Id="R21c2ad4bbd1a40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7ebfe06a04ecf" /><Relationship Type="http://schemas.openxmlformats.org/officeDocument/2006/relationships/notesSlide" Target="/ppt/notesSlides/notesSlide6.xml" Id="Rf1668b2b57784999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bf23ed69c7424c8b" /><Relationship Type="http://schemas.openxmlformats.org/officeDocument/2006/relationships/image" Target="/ppt/media/image3.png" Id="Rfd88ea0135cd41d4" /><Relationship Type="http://schemas.openxmlformats.org/officeDocument/2006/relationships/image" Target="/ppt/media/image4.png" Id="Rbe1c0726d5914f4f" /><Relationship Type="http://schemas.openxmlformats.org/officeDocument/2006/relationships/image" Target="/ppt/media/image5.png" Id="R3dc93c723cac497b" /><Relationship Type="http://schemas.openxmlformats.org/officeDocument/2006/relationships/image" Target="/ppt/media/image6.png" Id="R0c48385ef43b4739" /><Relationship Type="http://schemas.openxmlformats.org/officeDocument/2006/relationships/image" Target="/ppt/media/image7.png" Id="R1fbc6c08048341d9" /><Relationship Type="http://schemas.openxmlformats.org/officeDocument/2006/relationships/image" Target="/ppt/media/image8.png" Id="R365407fec18e4d09" /><Relationship Type="http://schemas.openxmlformats.org/officeDocument/2006/relationships/image" Target="/ppt/media/image9.png" Id="Ra67adae6116b4e53" /><Relationship Type="http://schemas.openxmlformats.org/officeDocument/2006/relationships/image" Target="/ppt/media/image10.png" Id="Ra549109a102f4103" /><Relationship Type="http://schemas.openxmlformats.org/officeDocument/2006/relationships/image" Target="/ppt/media/image11.png" Id="Rab0cce24e8d64599" /><Relationship Type="http://schemas.openxmlformats.org/officeDocument/2006/relationships/image" Target="/ppt/media/image12.png" Id="Rabf6dcd771a54a0e" /><Relationship Type="http://schemas.openxmlformats.org/officeDocument/2006/relationships/image" Target="/ppt/media/image13.png" Id="Rc9f63384054645c9" /><Relationship Type="http://schemas.openxmlformats.org/officeDocument/2006/relationships/image" Target="/ppt/media/image14.png" Id="R56d7c7200f9d426c" /><Relationship Type="http://schemas.openxmlformats.org/officeDocument/2006/relationships/notesSlide" Target="/ppt/notesSlides/notesSlide7.xml" Id="R3344696f1cdb4de9" /><Relationship Id="rIdVideo7_1" Type="http://schemas.openxmlformats.org/officeDocument/2006/relationships/hyperlink" Target="https://github.com/suraj4556kumar-sketch/Robo_matter_duality/blob/main/BTP-2/states/simulation/active_crystal_like.mp4" TargetMode="External" /><Relationship Id="rIdVideo7_2" Type="http://schemas.openxmlformats.org/officeDocument/2006/relationships/hyperlink" Target="https://github.com/suraj4556kumar-sketch/Robo_matter_duality/blob/main/BTP-2/states/simulation/active_glass.mp4" TargetMode="External" /><Relationship Id="rIdVideo7_3" Type="http://schemas.openxmlformats.org/officeDocument/2006/relationships/hyperlink" Target="https://github.com/suraj4556kumar-sketch/Robo_matter_duality/blob/main/BTP-2/states/simulation/liquid_like.mp4" TargetMode="External" /><Relationship Id="rIdVideo7_4" Type="http://schemas.openxmlformats.org/officeDocument/2006/relationships/hyperlink" Target="https://github.com/suraj4556kumar-sketch/Robo_matter_duality/blob/main/BTP-2/states/simulation/gas_like.mp4" TargetMode="External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1042cf6dce774158" /><Relationship Type="http://schemas.openxmlformats.org/officeDocument/2006/relationships/image" Target="/ppt/media/image15.png" Id="Rb84d8912a292478d" /><Relationship Type="http://schemas.openxmlformats.org/officeDocument/2006/relationships/image" Target="/ppt/media/image16.png" Id="R8328822f87f948fa" /><Relationship Type="http://schemas.openxmlformats.org/officeDocument/2006/relationships/notesSlide" Target="/ppt/notesSlides/notesSlide8.xml" Id="Radc8e47b849744df" /><Relationship Id="rIdVideo8_1" Type="http://schemas.openxmlformats.org/officeDocument/2006/relationships/hyperlink" Target="https://github.com/suraj4556kumar-sketch/Robo_matter_duality/blob/main/BTP-2/states/simulation/active_crystal_like.mp4" TargetMode="External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83b118667040d0" /><Relationship Type="http://schemas.openxmlformats.org/officeDocument/2006/relationships/image" Target="/ppt/media/image17.png" Id="R223b57baafe34862" /><Relationship Type="http://schemas.openxmlformats.org/officeDocument/2006/relationships/notesSlide" Target="/ppt/notesSlides/notesSlide9.xml" Id="R8fe910cd7f234366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6b765aa867c84cf5" /><Relationship Type="http://schemas.openxmlformats.org/officeDocument/2006/relationships/image" Target="/ppt/media/image18.png" Id="Rd53197b5dbbe4e24" /><Relationship Type="http://schemas.openxmlformats.org/officeDocument/2006/relationships/image" Target="/ppt/media/image19.png" Id="Rae909969b1364028" /><Relationship Type="http://schemas.openxmlformats.org/officeDocument/2006/relationships/notesSlide" Target="/ppt/notesSlides/notesSlide10.xml" Id="Rac52d90db08f4a78" /><Relationship Id="rIdVideo10_1" Type="http://schemas.openxmlformats.org/officeDocument/2006/relationships/hyperlink" Target="https://github.com/suraj4556kumar-sketch/Robo_matter_duality/blob/main/BTP-2/states/simulation/active_glass.mp4" TargetMode="External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2113913ff498d" /><Relationship Type="http://schemas.openxmlformats.org/officeDocument/2006/relationships/image" Target="/ppt/media/image20.png" Id="Rf7b516ecde324f9f" /><Relationship Type="http://schemas.openxmlformats.org/officeDocument/2006/relationships/notesSlide" Target="/ppt/notesSlides/notesSlide11.xml" Id="R0218ea1367664e4c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513d16d4195d4ab7" /><Relationship Type="http://schemas.openxmlformats.org/officeDocument/2006/relationships/image" Target="/ppt/media/image21.png" Id="R50be9386fb794f28" /><Relationship Type="http://schemas.openxmlformats.org/officeDocument/2006/relationships/image" Target="/ppt/media/image22.png" Id="R561376f85b6c4bf4" /><Relationship Type="http://schemas.openxmlformats.org/officeDocument/2006/relationships/notesSlide" Target="/ppt/notesSlides/notesSlide12.xml" Id="R5fcda51c72204511" /><Relationship Id="rIdVideo12_1" Type="http://schemas.openxmlformats.org/officeDocument/2006/relationships/hyperlink" Target="https://github.com/suraj4556kumar-sketch/Robo_matter_duality/blob/main/BTP-2/states/simulation/liquid_like.mp4" TargetMode="External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978702f6d4dbb" /><Relationship Type="http://schemas.openxmlformats.org/officeDocument/2006/relationships/image" Target="/ppt/media/image23.png" Id="R9dfdd08a799544cd" /><Relationship Type="http://schemas.openxmlformats.org/officeDocument/2006/relationships/notesSlide" Target="/ppt/notesSlides/notesSlide13.xml" Id="R06044def07794f0b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73819214657a474e" /><Relationship Type="http://schemas.openxmlformats.org/officeDocument/2006/relationships/image" Target="/ppt/media/image24.png" Id="R795841c546ae4141" /><Relationship Type="http://schemas.openxmlformats.org/officeDocument/2006/relationships/image" Target="/ppt/media/image25.png" Id="Reec6863cfff44087" /><Relationship Type="http://schemas.openxmlformats.org/officeDocument/2006/relationships/notesSlide" Target="/ppt/notesSlides/notesSlide14.xml" Id="R1fa53243d89848b5" /><Relationship Id="rIdVideo14_1" Type="http://schemas.openxmlformats.org/officeDocument/2006/relationships/hyperlink" Target="https://github.com/suraj4556kumar-sketch/Robo_matter_duality/blob/main/BTP-2/states/simulation/gas_like.mp4" TargetMode="External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0fed8f2bb4f16" /><Relationship Type="http://schemas.openxmlformats.org/officeDocument/2006/relationships/image" Target="/ppt/media/image26.png" Id="Re1b5e0ca8f4147b6" /><Relationship Type="http://schemas.openxmlformats.org/officeDocument/2006/relationships/notesSlide" Target="/ppt/notesSlides/notesSlide15.xml" Id="R08b8018719924f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0f84ea8f1f45c9" /><Relationship Type="http://schemas.openxmlformats.org/officeDocument/2006/relationships/image" Target="/ppt/media/image27.png" Id="R4f895f58c0d7498a" /><Relationship Type="http://schemas.openxmlformats.org/officeDocument/2006/relationships/notesSlide" Target="/ppt/notesSlides/notesSlide16.xml" Id="R4f78c834fb4d41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99b5be6dd49f4" /><Relationship Type="http://schemas.openxmlformats.org/officeDocument/2006/relationships/notesSlide" Target="/ppt/notesSlides/notesSlide17.xml" Id="Rb3ebe863b68e4873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3e2ecfa65edb460e" /><Relationship Type="http://schemas.openxmlformats.org/officeDocument/2006/relationships/notesSlide" Target="/ppt/notesSlides/notesSlide18.xml" Id="R12d42db1ccc543f5" /><Relationship Id="rIdVideo18_1" Type="http://schemas.openxmlformats.org/officeDocument/2006/relationships/hyperlink" Target="https://github.com/suraj4556kumar-sketch/Robo_matter_duality/blob/main/BTP-2/states/simulation/active_crystal_like.mp4" TargetMode="External" /><Relationship Id="rIdVideo18_2" Type="http://schemas.openxmlformats.org/officeDocument/2006/relationships/hyperlink" Target="https://github.com/suraj4556kumar-sketch/Robo_matter_duality/blob/main/BTP-2/states/simulation/active_glass.mp4" TargetMode="External" /><Relationship Id="rIdVideo18_3" Type="http://schemas.openxmlformats.org/officeDocument/2006/relationships/hyperlink" Target="https://github.com/suraj4556kumar-sketch/Robo_matter_duality/blob/main/BTP-2/states/simulation/liquid_like.mp4" TargetMode="External" /><Relationship Id="rIdVideo18_4" Type="http://schemas.openxmlformats.org/officeDocument/2006/relationships/hyperlink" Target="https://github.com/suraj4556kumar-sketch/Robo_matter_duality/blob/main/BTP-2/states/simulation/gas_like.mp4" TargetMode="External" /><Relationship Id="rIdVideo18_5" Type="http://schemas.openxmlformats.org/officeDocument/2006/relationships/hyperlink" Target="https://github.com/suraj4556kumar-sketch/Robo_matter_duality/blob/main/BTP-2" TargetMode="External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B1B8B9-9249-451D-84A2-04419CF2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0EB08-EE50-4589-9733-523148BE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4215aef5b4792"/>
          <a:stretch xmlns:a="http://schemas.openxmlformats.org/drawingml/2006/main"/>
        </p:blipFill>
        <p:spPr>
          <a:xfrm xmlns:a="http://schemas.openxmlformats.org/drawingml/2006/main">
            <a:off x="6821534" y="438150"/>
            <a:ext cx="4530632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C5313-D267-4AC9-87B7-C82F546F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4FA41-931B-4A48-8287-68A310E3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AFC4D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FC4DA"/>
                </a:solidFill>
                <a:latin typeface="Aptos"/>
                <a:ea typeface="Aptos"/>
                <a:cs typeface="Aptos"/>
              </a:rPr>
              <a:t>BTP-2 Defense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1951-A7E5-41C6-82E6-080E69F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Simulation and Analysis of Robo-Matter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7C9F3-27F1-4194-8C59-AAA9CC46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D8E2E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2EC"/>
                </a:solidFill>
                <a:latin typeface="Aptos"/>
                <a:ea typeface="Aptos"/>
                <a:cs typeface="Aptos"/>
              </a:rPr>
              <a:t>Active magnetic Magbots with chiral dynamics, light-field control, structural order metrics, MSD analysis, and simulation videos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C9B87-6B1B-46A0-885F-A13C907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D8E2E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EC"/>
                </a:solidFill>
                <a:latin typeface="Aptos"/>
                <a:ea typeface="Aptos"/>
                <a:cs typeface="Aptos"/>
              </a:rPr>
              <a:t>Suraj | Roll No. 22PH23011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D8E2E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EC"/>
                </a:solidFill>
                <a:latin typeface="Aptos"/>
                <a:ea typeface="Aptos"/>
                <a:cs typeface="Aptos"/>
              </a:rPr>
              <a:t>Prof. Pintu Patra | Spring Semester 2026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D8E2E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EC"/>
                </a:solidFill>
                <a:latin typeface="Aptos"/>
                <a:ea typeface="Aptos"/>
                <a:cs typeface="Aptos"/>
              </a:rPr>
              <a:t>BTP-2 GitHub: Robo_matter_duality/tree/main/BTP-2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B7671-6C4B-46AF-9B95-6C0C70FA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EDD39-658C-40F1-B0B7-7A28DF4F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38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Active crystal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6D772-1C7D-4576-BE78-E2B76EB7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FA6A9-2074-4C98-A5A9-5897514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38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Active glass-like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F0B9F-B0C9-44CD-9C63-FF965DBF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02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F9E32-A71F-4EE3-83CA-36759D99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578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38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Liquid-like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FF323-601D-4C03-AE4D-027D0AA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721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ED712-7721-40C2-BCCA-A103153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97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38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Gas-like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297FF-0005-4D58-8F0C-762733F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86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C9D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5E2"/>
                </a:solidFill>
                <a:latin typeface="Aptos"/>
                <a:ea typeface="Aptos"/>
                <a:cs typeface="Aptos"/>
              </a:rPr>
              <a:t>Includes: 4 simulation videos, 12 phase figures, repeated-seed MSD, equations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820696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60AC7-FF28-4E8A-9EE9-F83A5FAF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2">
            <a:extLst xmlns:a="http://schemas.openxmlformats.org/drawingml/2006/main">
              <a:ext uri="{FF2B5EF4-FFF2-40B4-BE49-F238E27FC236}">
                <a16:creationId xmlns:a16="http://schemas.microsoft.com/office/drawing/2014/main" id="{C06EF321-B7D5-4B16-915F-6EC01CF9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2">
            <a:extLst xmlns:a="http://schemas.openxmlformats.org/drawingml/2006/main">
              <a:ext uri="{FF2B5EF4-FFF2-40B4-BE49-F238E27FC236}">
                <a16:creationId xmlns:a16="http://schemas.microsoft.com/office/drawing/2014/main" id="{47C209F3-D392-4B0F-8645-168991A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RESEARCH 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133F7-74BF-46B4-BDA6-035FDD6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project asks how simple active magnetic units become material-like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C8482-B9DF-413A-ADE9-C9456E7B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novelty is a transparent physics-based simulation that connects Robo-Matter mechanisms to measurable phase diagnostics.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34E29-CC9B-43D9-9BC9-2CD4C56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0A929-5D53-43AB-BDB6-1AB78FBD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Research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279AE-F253-4807-86FE-0EBC8DE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895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Active matter studies units that consume energy locally and self-organize far from equilibrium.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8D65D-3C21-4AB1-92FF-D104580E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3A15C-FD2F-4A70-B245-5BD34439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76475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Robo-Matter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2ED8E-B66E-43EB-8D99-B7B133A5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0325"/>
            <a:ext cx="2895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Magbot experiments show active crystals, glass-like arrest, liquid-like flow, and gas-like dispersion; simulation helps isolate why.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5DA2C-5DB6-401E-A5AA-E0D3E8A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C48C1-C037-422C-8992-5EBE6809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B4B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4B8A"/>
                </a:solidFill>
                <a:latin typeface="Aptos"/>
                <a:ea typeface="Aptos"/>
                <a:cs typeface="Aptos"/>
              </a:rPr>
              <a:t>BTP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B50A5-170E-4B49-B969-8DAE6E2F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2895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two-dimensional six-site Magbot model links activity, chirality, light response, magnetic binding, and phase metrics.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6DB98-AC03-4798-91F1-3137FA8C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8610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0D387-355D-412C-ABE0-1141466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0100"/>
            <a:ext cx="826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collective state ~ magnetic binding and ordering / active agitation and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43B6C-59CE-4B1E-95E2-D89E257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Central claim: the same local rules can generate ordered, arrested, flowing, and dispersed regimes when the activity-binding balance changes.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FBB9A-F466-4EB6-8B80-B3BBA1E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7C6C9-7FAF-4E6E-8AAC-0BE8541D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C077C-CE2D-4631-AFA4-7D0E3297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35004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94358-700D-4C66-AF36-8295AACF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3">
            <a:extLst xmlns:a="http://schemas.openxmlformats.org/drawingml/2006/main">
              <a:ext uri="{FF2B5EF4-FFF2-40B4-BE49-F238E27FC236}">
                <a16:creationId xmlns:a16="http://schemas.microsoft.com/office/drawing/2014/main" id="{8D96D69E-24CA-4A02-BE7A-A0EBD786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3">
            <a:extLst xmlns:a="http://schemas.openxmlformats.org/drawingml/2006/main">
              <a:ext uri="{FF2B5EF4-FFF2-40B4-BE49-F238E27FC236}">
                <a16:creationId xmlns:a16="http://schemas.microsoft.com/office/drawing/2014/main" id="{9863C765-700E-40AA-8B8A-C1E3780F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MODEL FORMULATION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309C4-9FFC-486F-9539-6AF1B3D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Each Magbot is a rigid active disk with six magnetic sites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06ED2-C8FB-4B86-8A04-C0B574F8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model keeps the experimental ingredients that matter for phase behavior while staying computationally transparent.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6112A-BDEA-422F-8877-AABEAFC6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00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E6625-24B8-49BE-910D-D2EB08E6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527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1F60B-4927-48CF-8054-D533BBA0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194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B9FA2-2587-4671-8E3E-A2E4E664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B3601-9A3B-4EA3-8D6E-41B121A7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8072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3FA2F-EA79-4865-BBE2-6D2A6F5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8072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AFCA5-B674-4843-9585-A10BD48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FE232-5C98-48FB-A81E-D9D483C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2487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2F851-A39A-4CEF-AA09-CACF1C9B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2487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DCEF1-F1B6-4B45-95DE-F635065B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State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2EF5B-B70B-4672-9C00-EC4DCFF9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3238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106DE-FEE4-4326-8A98-8E0C447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x_i(t): body-center position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theta_i(t): body orientation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phi_ik(t): internal magnet phase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I(x,t): local light intensity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302EC-69F4-4C4D-B08B-45FDBD00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Interaction ingredients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B5119-3CF3-4B60-96A0-E7ED96F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571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32F1F-4E89-4DE1-B873-C41A710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146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Mechanisms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9CD24-79F2-43FB-8232-3713EE5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38450"/>
            <a:ext cx="2228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self-propulsion, chiral rotation, Gaussian light drift, steric repulsion, magnetic attraction, body torque, and internal magnet torque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917EF-993D-4542-8F5C-1D4C1972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143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e953abe254e41"/>
          <a:stretch xmlns:a="http://schemas.openxmlformats.org/drawingml/2006/main"/>
        </p:blipFill>
        <p:spPr>
          <a:xfrm xmlns:a="http://schemas.openxmlformats.org/drawingml/2006/main">
            <a:off x="7767638" y="4362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DB2D2-D89C-45D4-848B-0C427EA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95900"/>
            <a:ext cx="587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Project-generated active crystal snapshot: local interaction creates collective 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FAD7B-EF66-471F-847F-C934E789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95744-08BE-4DDE-98B5-67BA225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20220-2C89-4B44-85AD-D858981D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94171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C7EF3-B5B4-47B8-948A-BC23CF78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4">
            <a:extLst xmlns:a="http://schemas.openxmlformats.org/drawingml/2006/main">
              <a:ext uri="{FF2B5EF4-FFF2-40B4-BE49-F238E27FC236}">
                <a16:creationId xmlns:a16="http://schemas.microsoft.com/office/drawing/2014/main" id="{866BDA21-E760-42BB-82A6-F04F2B2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4">
            <a:extLst xmlns:a="http://schemas.openxmlformats.org/drawingml/2006/main">
              <a:ext uri="{FF2B5EF4-FFF2-40B4-BE49-F238E27FC236}">
                <a16:creationId xmlns:a16="http://schemas.microsoft.com/office/drawing/2014/main" id="{715861BE-75B6-4E40-9F93-A38C00C4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EQUATIONS OF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6DA9F-3744-452F-88BD-809A028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update rule separates activity, light response, force, torque, and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D5E48-C4E0-42F2-89E8-E74B7F29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These equations make the model interpretable: every term has a physical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FB13E-1171-4EBB-A607-A43F33D6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AEB49-6525-4F52-A171-929B3C1A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1032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4B8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5B4B8A"/>
                </a:solidFill>
                <a:latin typeface="Aptos Mono"/>
                <a:ea typeface="Aptos Mono"/>
                <a:cs typeface="Aptos Mono"/>
              </a:rPr>
              <a:t>x_i(t+dt) = x_i(t) + [mu_t F_i + F_light + v0(I_i) n_i] dt + sqrt(2 D_t dt) eta_i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3EE97-1FCD-42D2-B3D0-5A255BB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54B00-4CA2-4A6F-9B62-2C927C58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032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4B8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5B4B8A"/>
                </a:solidFill>
                <a:latin typeface="Aptos Mono"/>
                <a:ea typeface="Aptos Mono"/>
                <a:cs typeface="Aptos Mono"/>
              </a:rPr>
              <a:t>theta_i(t+dt) = theta_i(t) + [omega_i(I_i) + mu_r tau_i] dt + sqrt(2 D_r dt) xi_i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3B02B-B75B-4876-B933-B830310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1EB24-1092-4545-B626-6B46A7C0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1032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4B8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5B4B8A"/>
                </a:solidFill>
                <a:latin typeface="Aptos Mono"/>
                <a:ea typeface="Aptos Mono"/>
                <a:cs typeface="Aptos Mono"/>
              </a:rPr>
              <a:t>phi_ik(t+dt) = phi_ik(t) + mu_phi tau_phi,ik dt + sqrt(2 D_phi dt) zeta_ik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45F37-759C-4D12-9DD5-86CD9FC7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6B2D2-807D-4A4E-8561-04E59AF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33975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B4B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4B8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91C4A-78FD-4F96-9438-E8EF57E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57825"/>
            <a:ext cx="851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8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v0 and omega increase with local light; F_i contains magnetic and steric interactions; tau_i rotates the body; tau_phi evolves each magnetic site. Reflecting boundaries and cell-list neighbor search make long simulations practical.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6CF7A-3317-4893-ABDA-07D533BB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A8CE3-8B85-4D64-BD9F-61D229CA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EFF48-C8CF-43C1-901E-1847AEA4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0148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9E337-F828-4EDD-99BE-B6F545E4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5">
            <a:extLst xmlns:a="http://schemas.openxmlformats.org/drawingml/2006/main">
              <a:ext uri="{FF2B5EF4-FFF2-40B4-BE49-F238E27FC236}">
                <a16:creationId xmlns:a16="http://schemas.microsoft.com/office/drawing/2014/main" id="{AB4E10C7-2FBE-45EB-9F22-362E180D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5">
            <a:extLst xmlns:a="http://schemas.openxmlformats.org/drawingml/2006/main">
              <a:ext uri="{FF2B5EF4-FFF2-40B4-BE49-F238E27FC236}">
                <a16:creationId xmlns:a16="http://schemas.microsoft.com/office/drawing/2014/main" id="{3A63FD11-5884-44D9-AD5E-A47F1840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ANALYSIS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A69D9-ABF9-43B3-A1BE-8C296AE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Three diagnostics separate order, rearrangement, and mobility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B30A8-B4CA-49C9-A154-689B456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This is why the report does not rely only on final snapshots.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5919C-30DE-4B3D-8A3F-D561BD1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4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D5A5C-4DDA-4266-9483-2E40D186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0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N_i(t_m) = { j != i : |x_j(t_m) - x_i(t_m)| &lt;= r_nn },   r_nn = 2.35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E7F66-82AC-40C7-83E9-9A31617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533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FFB7C-8527-41F3-B27D-0BF81864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91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psi_6^(i)(t_m) = (1/N_i) sum_{j in N_i} exp[6 i alpha_ij(t_m)]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r_6(t_m) = (1/N) sum_i |psi_6^(i)(t_m)|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06D0D-B84C-48AA-B381-E9E7C4B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533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FFF19-F118-472D-A018-02148059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4991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C_i(t_m) = | N_i(t_m) triangle N_i(t_{m-1}) |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n_c(t_m) = (1/(N Delta t_m)) sum_i C_i(t_m)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AA1DD-A58D-4B50-A183-683BDE99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1E0C6-967A-47E2-83AA-5ADF867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99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MSD(tau) = &lt; |x_i(t+tau) - x_i(t)|^2 &gt;_{i,t}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4214C-BB22-4A1D-BCB2-9D1C641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5334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EB794-F242-4F75-A084-CE7AC536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Why both r6 and nc are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BF176-911F-48B1-BF0B-C7B07119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991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 r6 can mean active crystal or trapped glass. High nc can mean useful liquid flow or uncoordinated gas-like collisions. Classification comes from reading r6, nc, snapshots, videos, and MSD together.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6FAC4-A6EA-4A8F-A583-7E21627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9CFCB-862E-4DA4-8738-15C60CC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5585A-A70A-45A4-990C-71AFF4D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98775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7ED81-B596-4F81-997A-03A4EC0E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6">
            <a:extLst xmlns:a="http://schemas.openxmlformats.org/drawingml/2006/main">
              <a:ext uri="{FF2B5EF4-FFF2-40B4-BE49-F238E27FC236}">
                <a16:creationId xmlns:a16="http://schemas.microsoft.com/office/drawing/2014/main" id="{1D1B5583-C154-4E2A-8C59-941C5A41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6">
            <a:extLst xmlns:a="http://schemas.openxmlformats.org/drawingml/2006/main">
              <a:ext uri="{FF2B5EF4-FFF2-40B4-BE49-F238E27FC236}">
                <a16:creationId xmlns:a16="http://schemas.microsoft.com/office/drawing/2014/main" id="{1A6CE3E2-6C12-4A6B-977B-ECC0737D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PHASE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177D5-FFD5-4D21-AAEA-BF27514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Changing the activity-binding balance moves the system across four regimes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C091B-8B8E-4227-910A-F2DAFFF3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transition is qualitative, but it provides a useful organizing principle for the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A604B-F7DF-4B66-8510-FB8BA88C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7DACD-157C-46F8-9B8F-01A753BE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A66A0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A66A00"/>
                </a:solidFill>
                <a:latin typeface="Aptos Mono"/>
                <a:ea typeface="Aptos Mono"/>
                <a:cs typeface="Aptos Mono"/>
              </a:rPr>
              <a:t>Lambda = k_m / (v_base + omega_base + epsilon)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67212-4CE7-45CA-AEC5-AA39A5C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1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C61E3-6B3A-42E3-B10C-6EE4D31F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Strong binding + low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FE4DD-3E25-49D9-AA32-C8ACAA5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0375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order but kinetic arrest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A1295-8A00-46AD-A13C-29CDD1D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Active glass-like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8CAF7-3C00-42AF-B32C-AF6C5F0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53F61-9BAC-4B4A-8269-7B2C8F81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Strong binding + moderate 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B1214-1CE0-4716-A194-7588DB7C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defect annealing and active crystal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F62BD-3E51-41AA-8AC2-A4309E3C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Active crystal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D746A-B72B-4BC8-B215-DFC0E174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F302C-29DB-464F-AAD3-9A4760C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Comparable binding and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9ECAD-4401-44B0-98B1-BD3741A1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33875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persistent bond exchange and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8DD57-B82B-443C-B13B-F2BA638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Liquid-like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D9A80-E25A-4867-9B44-4883E76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0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99F74-A399-4647-8AF9-38D5AD63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006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Weak binding + high activity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9A093-F2E6-46A5-BE52-D05461B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dispersed active gas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E311B-AB81-4C87-B510-C59DFEB4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Gas-like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FFA85-F551-48D1-AA19-E0CC546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Activity is not just noise: at moderate strength it helps Magbots search and anneal defects; at high strength it melts cohesion.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DD232-5CC6-4928-8166-26A75A5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12330-B64C-4E36-8C82-FAD489E4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CB561-EEED-482B-8B59-F2BFFD3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7711221"/>
      </p:ext>
    </p:extLst>
  </p:cSld>
</p:sld>
</file>

<file path=ppt/slides/slide7.xml><?xml version="1.0" encoding="utf-8"?>
<ns0:sld xmlns:a="http://schemas.openxmlformats.org/drawingml/2006/main" xmlns:ns0="http://schemas.openxmlformats.org/presentationml/2006/main" xmlns:ns2="http://schemas.microsoft.com/office/drawing/2014/main" xmlns:ns4="http://schemas.microsoft.com/office/powerpoint/2010/main" xmlns:r="http://schemas.openxmlformats.org/officeDocument/2006/relationships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AB84D298-B512-48D5-A3F3-3E9BD5812AD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kicker-marker-7">
            <a:extLst>
              <a:ext uri="{FF2B5EF4-FFF2-40B4-BE49-F238E27FC236}">
                <ns2:creationId id="{65FC9009-23C8-4C2B-8D38-6CA32FAE4188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95250" cy="952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kicker-label-7">
            <a:extLst>
              <a:ext uri="{FF2B5EF4-FFF2-40B4-BE49-F238E27FC236}">
                <ns2:creationId id="{BA763344-0C28-4AF3-9806-5424A2B302A4}"/>
              </a:ext>
            </a:extLst>
          </ns0:cNvPr>
          <ns0:cNvSpPr>
            <a:spLocks noGrp="1"/>
          </ns0:cNvSpPr>
          <ns0:nvPr/>
        </ns0:nvSpPr>
        <ns0:spPr>
          <a:xfrm>
            <a:off x="628650" y="219075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EVIDENCE SET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79233C6-A231-4BEC-BA44-01255404CF6A}"/>
              </a:ext>
            </a:extLst>
          </ns0:cNvPr>
          <ns0:cNvSpPr>
            <a:spLocks noGrp="1"/>
          </ns0:cNvSpPr>
          <ns0:nvPr/>
        </ns0:nvSpPr>
        <ns0:spPr>
          <a:xfrm>
            <a:off x="457200" y="571500"/>
            <a:ext cx="7429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2449"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Each phase is supported by parameter plots, snapshots, MSD curves, and videos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E2F3FB1-891D-4463-B362-0F59826230C1}"/>
              </a:ext>
            </a:extLst>
          </ns0:cNvPr>
          <ns0:cNvSpPr>
            <a:spLocks noGrp="1"/>
          </ns0:cNvSpPr>
          <ns0:nvPr/>
        </ns0:nvSpPr>
        <ns0:spPr>
          <a:xfrm>
            <a:off x="476250" y="1381125"/>
            <a:ext cx="676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deck keeps every major proof object from the report visible.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36833F6B-51E5-4097-9D76-B6349EDB1B4F}"/>
              </a:ext>
            </a:extLst>
          </ns0:cNvPr>
          <ns0:cNvSpPr>
            <a:spLocks noGrp="1"/>
          </ns0:cNvSpPr>
          <ns0:nvPr/>
        </ns0:nvSpPr>
        <ns0:spPr>
          <a:xfrm>
            <a:off x="495300" y="1504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Phase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8A16AB1-2911-49CC-A073-637CD82D98CD}"/>
              </a:ext>
            </a:extLst>
          </ns0:cNvPr>
          <ns0:cNvSpPr>
            <a:spLocks noGrp="1"/>
          </ns0:cNvSpPr>
          <ns0:nvPr/>
        </ns0:nvSpPr>
        <ns0:spPr>
          <a:xfrm>
            <a:off x="2286000" y="1504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Parameter plot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44FA3FA-74B3-43D8-8DD5-23F1A817406F}"/>
              </a:ext>
            </a:extLst>
          </ns0:cNvPr>
          <ns0:cNvSpPr>
            <a:spLocks noGrp="1"/>
          </ns0:cNvSpPr>
          <ns0:nvPr/>
        </ns0:nvSpPr>
        <ns0:spPr>
          <a:xfrm>
            <a:off x="5095875" y="1504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Snapshot / video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50F67882-C95D-44C8-BC16-F0C7B0D70EDB}"/>
              </a:ext>
            </a:extLst>
          </ns0:cNvPr>
          <ns0:cNvSpPr>
            <a:spLocks noGrp="1"/>
          </ns0:cNvSpPr>
          <ns0:nvPr/>
        </ns0:nvSpPr>
        <ns0:spPr>
          <a:xfrm>
            <a:off x="8048625" y="1504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MSD curve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E34CC53-1009-4AE0-A978-AED1DF7468B8}"/>
              </a:ext>
            </a:extLst>
          </ns0:cNvPr>
          <ns0:cNvSpPr>
            <a:spLocks noGrp="1"/>
          </ns0:cNvSpPr>
          <ns0:nvPr/>
        </ns0:nvSpPr>
        <ns0:spPr>
          <a:xfrm>
            <a:off x="495300" y="1809750"/>
            <a:ext cx="10953750" cy="895350"/>
          </a:xfrm>
          <a:prstGeom prst="rect">
            <a:avLst/>
          </a:prstGeom>
          <a:solidFill>
            <a:srgbClr val="EAF7EF"/>
          </a:solidFill>
          <a:ln w="9525">
            <a:solidFill>
              <a:srgbClr val="2D7D46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E896309E-76A7-48FC-8DAE-781406B7E2CF}"/>
              </a:ext>
            </a:extLst>
          </ns0:cNvPr>
          <ns0:cNvSpPr>
            <a:spLocks noGrp="1"/>
          </ns0:cNvSpPr>
          <ns0:nvPr/>
        </ns0:nvSpPr>
        <ns0:spPr>
          <a:xfrm>
            <a:off x="666750" y="20764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Active crystal</a:t>
            </a:r>
          </a:p>
        </ns0:txBody>
      </ns0:sp>
      <ns0:pic>
        <ns0:nvPicPr>
          <ns0:cNvPr id="12" name=""/>
          <ns0:cNvPicPr>
            <a:picLocks noChangeAspect="1"/>
          </ns0:cNvPicPr>
          <ns0:nvPr/>
        </ns0:nvPicPr>
        <ns0:blipFill>
          <a:blip r:embed="Rfd88ea0135cd41d4"/>
          <a:stretch/>
        </ns0:blipFill>
        <ns0:spPr>
          <a:xfrm>
            <a:off x="2963863" y="1905000"/>
            <a:ext cx="939800" cy="704850"/>
          </a:xfrm>
          <a:prstGeom prst="rect">
            <a:avLst/>
          </a:prstGeom>
        </ns0:spPr>
      </ns0:pic>
      <ns0:pic>
        <ns0:nvPicPr>
          <ns0:cNvPr id="13" name=""/>
          <ns0:cNvPicPr>
            <a:picLocks noChangeAspect="1"/>
          </ns0:cNvPicPr>
          <ns0:nvPr/>
        </ns0:nvPicPr>
        <ns0:blipFill>
          <a:blip r:embed="Rbe1c0726d5914f4f"/>
          <a:stretch/>
        </ns0:blipFill>
        <ns0:spPr>
          <a:xfrm>
            <a:off x="5910263" y="1905000"/>
            <a:ext cx="704850" cy="704850"/>
          </a:xfrm>
          <a:prstGeom prst="rect">
            <a:avLst/>
          </a:prstGeom>
        </ns0:spPr>
      </ns0:pic>
      <ns0:pic>
        <ns0:nvPicPr>
          <ns0:cNvPr id="14" name=""/>
          <ns0:cNvPicPr>
            <a:picLocks noChangeAspect="1"/>
          </ns0:cNvPicPr>
          <ns0:nvPr/>
        </ns0:nvPicPr>
        <ns0:blipFill>
          <a:blip r:embed="R3dc93c723cac497b"/>
          <a:stretch/>
        </ns0:blipFill>
        <ns0:spPr>
          <a:xfrm>
            <a:off x="8731568" y="1905000"/>
            <a:ext cx="986790" cy="704850"/>
          </a:xfrm>
          <a:prstGeom prst="rect">
            <a:avLst/>
          </a:prstGeom>
        </ns0:spPr>
      </ns0:pic>
      <ns0:sp>
        <ns0:nvSpPr>
          <ns0:cNvPr id="15" name="">
            <a:extLst>
              <a:ext uri="{FF2B5EF4-FFF2-40B4-BE49-F238E27FC236}">
                <ns2:creationId id="{D697D236-A7EF-4B64-A508-F4711D17DDAA}"/>
              </a:ext>
            </a:extLst>
          </ns0:cNvPr>
          <ns0:cNvSpPr>
            <a:spLocks noGrp="1"/>
          </ns0:cNvSpPr>
          <ns0:nvPr/>
        </ns0:nvSpPr>
        <ns0:spPr>
          <a:xfrm>
            <a:off x="10334625" y="21336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97724"/>
          </a:bodyPr>
          <a:lstStyle/>
          <a:p>
            <a:pPr algn="r">
              <a:lnSpc>
                <a:spcPct val="110000"/>
              </a:lnSpc>
              <a:buNone/>
              <a:defRPr sz="788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D7D46"/>
                </a:solidFill>
                <a:latin typeface="Aptos"/>
                <a:ea typeface="Aptos"/>
                <a:cs typeface="Aptos"/>
                <a:hlinkClick r:id="rIdVideo7_1"/>
              </a:rPr>
              <a:t>active_crystal_like.mp4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79DDB8FA-D4D0-41CE-A214-865063092B4D}"/>
              </a:ext>
            </a:extLst>
          </ns0:cNvPr>
          <ns0:cNvSpPr>
            <a:spLocks noGrp="1"/>
          </ns0:cNvSpPr>
          <ns0:nvPr/>
        </ns0:nvSpPr>
        <ns0:spPr>
          <a:xfrm>
            <a:off x="495300" y="2876550"/>
            <a:ext cx="10953750" cy="895350"/>
          </a:xfrm>
          <a:prstGeom prst="rect">
            <a:avLst/>
          </a:prstGeom>
          <a:solidFill>
            <a:srgbClr val="FFF1D1"/>
          </a:solidFill>
          <a:ln w="9525">
            <a:solidFill>
              <a:srgbClr val="A66A00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3907DC4F-D5D5-4CC1-A90D-752E16D031C2}"/>
              </a:ext>
            </a:extLst>
          </ns0:cNvPr>
          <ns0:cNvSpPr>
            <a:spLocks noGrp="1"/>
          </ns0:cNvSpPr>
          <ns0:nvPr/>
        </ns0:nvSpPr>
        <ns0:spPr>
          <a:xfrm>
            <a:off x="666750" y="31432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Active glass-like</a:t>
            </a:r>
          </a:p>
        </ns0:txBody>
      </ns0:sp>
      <ns0:pic>
        <ns0:nvPicPr>
          <ns0:cNvPr id="18" name=""/>
          <ns0:cNvPicPr>
            <a:picLocks noChangeAspect="1"/>
          </ns0:cNvPicPr>
          <ns0:nvPr/>
        </ns0:nvPicPr>
        <ns0:blipFill>
          <a:blip r:embed="R0c48385ef43b4739"/>
          <a:stretch/>
        </ns0:blipFill>
        <ns0:spPr>
          <a:xfrm>
            <a:off x="2963863" y="2971800"/>
            <a:ext cx="939800" cy="704850"/>
          </a:xfrm>
          <a:prstGeom prst="rect">
            <a:avLst/>
          </a:prstGeom>
        </ns0:spPr>
      </ns0:pic>
      <ns0:pic>
        <ns0:nvPicPr>
          <ns0:cNvPr id="19" name=""/>
          <ns0:cNvPicPr>
            <a:picLocks noChangeAspect="1"/>
          </ns0:cNvPicPr>
          <ns0:nvPr/>
        </ns0:nvPicPr>
        <ns0:blipFill>
          <a:blip r:embed="R1fbc6c08048341d9"/>
          <a:stretch/>
        </ns0:blipFill>
        <ns0:spPr>
          <a:xfrm>
            <a:off x="5904496" y="2971800"/>
            <a:ext cx="716382" cy="704850"/>
          </a:xfrm>
          <a:prstGeom prst="rect">
            <a:avLst/>
          </a:prstGeom>
        </ns0:spPr>
      </ns0:pic>
      <ns0:pic>
        <ns0:nvPicPr>
          <ns0:cNvPr id="20" name=""/>
          <ns0:cNvPicPr>
            <a:picLocks noChangeAspect="1"/>
          </ns0:cNvPicPr>
          <ns0:nvPr/>
        </ns0:nvPicPr>
        <ns0:blipFill>
          <a:blip r:embed="R365407fec18e4d09"/>
          <a:stretch/>
        </ns0:blipFill>
        <ns0:spPr>
          <a:xfrm>
            <a:off x="8731568" y="2971800"/>
            <a:ext cx="986790" cy="704850"/>
          </a:xfrm>
          <a:prstGeom prst="rect">
            <a:avLst/>
          </a:prstGeom>
        </ns0:spPr>
      </ns0:pic>
      <ns0:sp>
        <ns0:nvSpPr>
          <ns0:cNvPr id="21" name="">
            <a:extLst>
              <a:ext uri="{FF2B5EF4-FFF2-40B4-BE49-F238E27FC236}">
                <ns2:creationId id="{6039A20C-F0F0-4493-955C-6FA704CD9A52}"/>
              </a:ext>
            </a:extLst>
          </ns0:cNvPr>
          <ns0:cNvSpPr>
            <a:spLocks noGrp="1"/>
          </ns0:cNvSpPr>
          <ns0:nvPr/>
        </ns0:nvSpPr>
        <ns0:spPr>
          <a:xfrm>
            <a:off x="10334625" y="32004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788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66A00"/>
                </a:solidFill>
                <a:latin typeface="Aptos"/>
                <a:ea typeface="Aptos"/>
                <a:cs typeface="Aptos"/>
                <a:hlinkClick r:id="rIdVideo7_2"/>
              </a:rPr>
              <a:t>active_glass.mp4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4F276FC6-DCC0-4699-A545-D358C8A1DF1A}"/>
              </a:ext>
            </a:extLst>
          </ns0:cNvPr>
          <ns0:cNvSpPr>
            <a:spLocks noGrp="1"/>
          </ns0:cNvSpPr>
          <ns0:nvPr/>
        </ns0:nvSpPr>
        <ns0:spPr>
          <a:xfrm>
            <a:off x="495300" y="3943350"/>
            <a:ext cx="10953750" cy="895350"/>
          </a:xfrm>
          <a:prstGeom prst="rect">
            <a:avLst/>
          </a:prstGeom>
          <a:solidFill>
            <a:srgbClr val="E7F0F8"/>
          </a:solidFill>
          <a:ln w="9525">
            <a:solidFill>
              <a:srgbClr val="1F4E79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B8A5A2B1-B44A-4E66-9B9D-C2C016236932}"/>
              </a:ext>
            </a:extLst>
          </ns0:cNvPr>
          <ns0:cNvSpPr>
            <a:spLocks noGrp="1"/>
          </ns0:cNvSpPr>
          <ns0:nvPr/>
        </ns0:nvSpPr>
        <ns0:spPr>
          <a:xfrm>
            <a:off x="666750" y="42100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Liquid-like</a:t>
            </a:r>
          </a:p>
        </ns0:txBody>
      </ns0:sp>
      <ns0:pic>
        <ns0:nvPicPr>
          <ns0:cNvPr id="24" name=""/>
          <ns0:cNvPicPr>
            <a:picLocks noChangeAspect="1"/>
          </ns0:cNvPicPr>
          <ns0:nvPr/>
        </ns0:nvPicPr>
        <ns0:blipFill>
          <a:blip r:embed="Ra67adae6116b4e53"/>
          <a:stretch/>
        </ns0:blipFill>
        <ns0:spPr>
          <a:xfrm>
            <a:off x="2963863" y="4038600"/>
            <a:ext cx="939800" cy="704850"/>
          </a:xfrm>
          <a:prstGeom prst="rect">
            <a:avLst/>
          </a:prstGeom>
        </ns0:spPr>
      </ns0:pic>
      <ns0:pic>
        <ns0:nvPicPr>
          <ns0:cNvPr id="25" name=""/>
          <ns0:cNvPicPr>
            <a:picLocks noChangeAspect="1"/>
          </ns0:cNvPicPr>
          <ns0:nvPr/>
        </ns0:nvPicPr>
        <ns0:blipFill>
          <a:blip r:embed="Ra549109a102f4103"/>
          <a:stretch/>
        </ns0:blipFill>
        <ns0:spPr>
          <a:xfrm>
            <a:off x="5910263" y="4038600"/>
            <a:ext cx="704850" cy="704850"/>
          </a:xfrm>
          <a:prstGeom prst="rect">
            <a:avLst/>
          </a:prstGeom>
        </ns0:spPr>
      </ns0:pic>
      <ns0:pic>
        <ns0:nvPicPr>
          <ns0:cNvPr id="26" name=""/>
          <ns0:cNvPicPr>
            <a:picLocks noChangeAspect="1"/>
          </ns0:cNvPicPr>
          <ns0:nvPr/>
        </ns0:nvPicPr>
        <ns0:blipFill>
          <a:blip r:embed="Rab0cce24e8d64599"/>
          <a:stretch/>
        </ns0:blipFill>
        <ns0:spPr>
          <a:xfrm>
            <a:off x="8731568" y="4038600"/>
            <a:ext cx="986790" cy="704850"/>
          </a:xfrm>
          <a:prstGeom prst="rect">
            <a:avLst/>
          </a:prstGeom>
        </ns0:spPr>
      </ns0:pic>
      <ns0:sp>
        <ns0:nvSpPr>
          <ns0:cNvPr id="27" name="">
            <a:extLst>
              <a:ext uri="{FF2B5EF4-FFF2-40B4-BE49-F238E27FC236}">
                <ns2:creationId id="{8C864061-EECE-40DB-9B7C-E015804F9D6F}"/>
              </a:ext>
            </a:extLst>
          </ns0:cNvPr>
          <ns0:cNvSpPr>
            <a:spLocks noGrp="1"/>
          </ns0:cNvSpPr>
          <ns0:nvPr/>
        </ns0:nvSpPr>
        <ns0:spPr>
          <a:xfrm>
            <a:off x="10334625" y="42672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788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4E79"/>
                </a:solidFill>
                <a:latin typeface="Aptos"/>
                <a:ea typeface="Aptos"/>
                <a:cs typeface="Aptos"/>
                <a:hlinkClick r:id="rIdVideo7_3"/>
              </a:rPr>
              <a:t>liquid_like.mp4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D8459E19-5A93-435A-B212-08E766D10BC7}"/>
              </a:ext>
            </a:extLst>
          </ns0:cNvPr>
          <ns0:cNvSpPr>
            <a:spLocks noGrp="1"/>
          </ns0:cNvSpPr>
          <ns0:nvPr/>
        </ns0:nvSpPr>
        <ns0:spPr>
          <a:xfrm>
            <a:off x="495300" y="5010150"/>
            <a:ext cx="10953750" cy="895350"/>
          </a:xfrm>
          <a:prstGeom prst="rect">
            <a:avLst/>
          </a:prstGeom>
          <a:solidFill>
            <a:srgbClr val="FBE6E0"/>
          </a:solidFill>
          <a:ln w="9525">
            <a:solidFill>
              <a:srgbClr val="A64936"/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C37382A5-F4AD-4605-842B-9B274E9210A4}"/>
              </a:ext>
            </a:extLst>
          </ns0:cNvPr>
          <ns0:cNvSpPr>
            <a:spLocks noGrp="1"/>
          </ns0:cNvSpPr>
          <ns0:nvPr/>
        </ns0:nvSpPr>
        <ns0:spPr>
          <a:xfrm>
            <a:off x="666750" y="52768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Gas-like</a:t>
            </a:r>
          </a:p>
        </ns0:txBody>
      </ns0:sp>
      <ns0:pic>
        <ns0:nvPicPr>
          <ns0:cNvPr id="30" name=""/>
          <ns0:cNvPicPr>
            <a:picLocks noChangeAspect="1"/>
          </ns0:cNvPicPr>
          <ns0:nvPr/>
        </ns0:nvPicPr>
        <ns0:blipFill>
          <a:blip r:embed="Rabf6dcd771a54a0e"/>
          <a:stretch/>
        </ns0:blipFill>
        <ns0:spPr>
          <a:xfrm>
            <a:off x="2963863" y="5105400"/>
            <a:ext cx="939800" cy="704850"/>
          </a:xfrm>
          <a:prstGeom prst="rect">
            <a:avLst/>
          </a:prstGeom>
        </ns0:spPr>
      </ns0:pic>
      <ns0:pic>
        <ns0:nvPicPr>
          <ns0:cNvPr id="31" name=""/>
          <ns0:cNvPicPr>
            <a:picLocks noChangeAspect="1"/>
          </ns0:cNvPicPr>
          <ns0:nvPr/>
        </ns0:nvPicPr>
        <ns0:blipFill>
          <a:blip r:embed="Rc9f63384054645c9"/>
          <a:stretch/>
        </ns0:blipFill>
        <ns0:spPr>
          <a:xfrm>
            <a:off x="5910263" y="5105400"/>
            <a:ext cx="704850" cy="704850"/>
          </a:xfrm>
          <a:prstGeom prst="rect">
            <a:avLst/>
          </a:prstGeom>
        </ns0:spPr>
      </ns0:pic>
      <ns0:pic>
        <ns0:nvPicPr>
          <ns0:cNvPr id="32" name=""/>
          <ns0:cNvPicPr>
            <a:picLocks noChangeAspect="1"/>
          </ns0:cNvPicPr>
          <ns0:nvPr/>
        </ns0:nvPicPr>
        <ns0:blipFill>
          <a:blip r:embed="R56d7c7200f9d426c"/>
          <a:stretch/>
        </ns0:blipFill>
        <ns0:spPr>
          <a:xfrm>
            <a:off x="8731568" y="5105400"/>
            <a:ext cx="986790" cy="704850"/>
          </a:xfrm>
          <a:prstGeom prst="rect">
            <a:avLst/>
          </a:prstGeom>
        </ns0:spPr>
      </ns0:pic>
      <ns0:sp>
        <ns0:nvSpPr>
          <ns0:cNvPr id="33" name="">
            <a:extLst>
              <a:ext uri="{FF2B5EF4-FFF2-40B4-BE49-F238E27FC236}">
                <ns2:creationId id="{D37BB0F0-2284-43F0-8148-89985450B2F6}"/>
              </a:ext>
            </a:extLst>
          </ns0:cNvPr>
          <ns0:cNvSpPr>
            <a:spLocks noGrp="1"/>
          </ns0:cNvSpPr>
          <ns0:nvPr/>
        </ns0:nvSpPr>
        <ns0:spPr>
          <a:xfrm>
            <a:off x="10334625" y="53340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788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64936"/>
                </a:solidFill>
                <a:latin typeface="Aptos"/>
                <a:ea typeface="Aptos"/>
                <a:cs typeface="Aptos"/>
                <a:hlinkClick r:id="rIdVideo7_4"/>
              </a:rPr>
              <a:t>gas_like.mp4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071D3E2E-EC79-48A5-AA4B-DDDA920F9720}"/>
              </a:ext>
            </a:extLst>
          </ns0:cNvPr>
          <ns0:cNvSpPr>
            <a:spLocks noGrp="1"/>
          </ns0:cNvSpPr>
          <ns0:nvPr/>
        </ns0:nvSpPr>
        <ns0:spPr>
          <a:xfrm>
            <a:off x="457200" y="6477000"/>
            <a:ext cx="9810750" cy="95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5" name="">
            <a:extLst>
              <a:ext uri="{FF2B5EF4-FFF2-40B4-BE49-F238E27FC236}">
                <ns2:creationId id="{745D5095-C997-4E4E-96E0-2C870D7E5894}"/>
              </a:ext>
            </a:extLst>
          </ns0:cNvPr>
          <ns0:cNvSpPr>
            <a:spLocks noGrp="1"/>
          </ns0:cNvSpPr>
          <ns0:nvPr/>
        </ns0:nvSpPr>
        <ns0:spPr>
          <a:xfrm>
            <a:off x="457200" y="65532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EFF98745-A27B-4ABC-A909-2ED296164F06}"/>
              </a:ext>
            </a:extLst>
          </ns0:cNvPr>
          <ns0:cNvSpPr>
            <a:spLocks noGrp="1"/>
          </ns0:cNvSpPr>
          <ns0:nvPr/>
        </ns0:nvSpPr>
        <ns0:spPr>
          <a:xfrm>
            <a:off x="11049000" y="65151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07</a:t>
            </a:r>
          </a:p>
        </ns0:txBody>
      </ns0:sp>
    </ns0:spTree>
    <ns0:extLst>
      <ns0:ext uri="{BB962C8B-B14F-4D97-AF65-F5344CB8AC3E}">
        <ns4:creationId val="2009320572"/>
      </ns0:ext>
    </ns0:extLst>
  </ns0:cSld>
</ns0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4="http://schemas.microsoft.com/office/powerpoint/2010/main" xmlns:r="http://schemas.openxmlformats.org/officeDocument/2006/relationships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03256752-ABD0-4E63-A334-B0C7E81A4E2D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kicker-marker-8">
            <a:extLst>
              <a:ext uri="{FF2B5EF4-FFF2-40B4-BE49-F238E27FC236}">
                <ns2:creationId id="{103E3D5E-AFEB-4AF1-80C9-A138E7DA7AB3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95250" cy="95250"/>
          </a:xfrm>
          <a:prstGeom prst="rect">
            <a:avLst/>
          </a:prstGeom>
          <a:solidFill>
            <a:srgbClr val="2D7D4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kicker-label-8">
            <a:extLst>
              <a:ext uri="{FF2B5EF4-FFF2-40B4-BE49-F238E27FC236}">
                <ns2:creationId id="{039ECE13-313A-4315-B1A6-57D734D1E0F7}"/>
              </a:ext>
            </a:extLst>
          </ns0:cNvPr>
          <ns0:cNvSpPr>
            <a:spLocks noGrp="1"/>
          </ns0:cNvSpPr>
          <ns0:nvPr/>
        </ns0:nvSpPr>
        <ns0:spPr>
          <a:xfrm>
            <a:off x="628650" y="219075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ORDERED ACTIVE STATE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356418D8-7019-4CCE-92BD-EADF4A9D1E44}"/>
              </a:ext>
            </a:extLst>
          </ns0:cNvPr>
          <ns0:cNvSpPr>
            <a:spLocks noGrp="1"/>
          </ns0:cNvSpPr>
          <ns0:nvPr/>
        </ns0:nvSpPr>
        <ns0:spPr>
          <a:xfrm>
            <a:off x="457200" y="571500"/>
            <a:ext cx="7429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2449"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Active crystal: parameter trace separates structure from rearrangement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276CCBD-F067-4202-9FA2-7CA0B1C41695}"/>
              </a:ext>
            </a:extLst>
          </ns0:cNvPr>
          <ns0:cNvSpPr>
            <a:spLocks noGrp="1"/>
          </ns0:cNvSpPr>
          <ns0:nvPr/>
        </ns0:nvSpPr>
        <ns0:spPr>
          <a:xfrm>
            <a:off x="476250" y="1381125"/>
            <a:ext cx="676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Moderate activity anneals defects while strong magnetic binding preserves local order.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181FD528-A882-4B24-93E5-CA806B8BD53D}"/>
              </a:ext>
            </a:extLst>
          </ns0:cNvPr>
          <ns0:cNvSpPr>
            <a:spLocks noGrp="1"/>
          </ns0:cNvSpPr>
          <ns0:nvPr/>
        </ns0:nvSpPr>
        <ns0:spPr>
          <a:xfrm>
            <a:off x="457200" y="1952625"/>
            <a:ext cx="67627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2D7D46"/>
            </a:solidFill>
            <a:prstDash val="solid"/>
          </a:ln>
        </ns0:spPr>
      </ns0:sp>
      <ns0:pic>
        <ns0:nvPicPr>
          <ns0:cNvPr id="7" name=""/>
          <ns0:cNvPicPr>
            <a:picLocks noChangeAspect="1"/>
          </ns0:cNvPicPr>
          <ns0:nvPr/>
        </ns0:nvPicPr>
        <ns0:blipFill>
          <a:blip r:embed="Rb84d8912a292478d"/>
          <a:stretch/>
        </ns0:blipFill>
        <ns0:spPr>
          <a:xfrm>
            <a:off x="1539875" y="2047875"/>
            <a:ext cx="4597400" cy="3448050"/>
          </a:xfrm>
          <a:prstGeom prst="rect">
            <a:avLst/>
          </a:prstGeom>
        </ns0:spPr>
      </ns0:pic>
      <ns0:sp>
        <ns0:nvSpPr>
          <ns0:cNvPr id="8" name="">
            <a:extLst>
              <a:ext uri="{FF2B5EF4-FFF2-40B4-BE49-F238E27FC236}">
                <ns2:creationId id="{E346C9E6-4105-4B49-823B-6A1FA136F8C6}"/>
              </a:ext>
            </a:extLst>
          </ns0:cNvPr>
          <ns0:cNvSpPr>
            <a:spLocks noGrp="1"/>
          </ns0:cNvSpPr>
          <ns0:nvPr/>
        </ns0:nvSpPr>
        <ns0:spPr>
          <a:xfrm>
            <a:off x="590550" y="5534025"/>
            <a:ext cx="649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Order parameter r6 and nearest-neighbor change rate nc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5399D48A-DE5C-436B-8219-EBBF6FEA1F4B}"/>
              </a:ext>
            </a:extLst>
          </ns0:cNvPr>
          <ns0:cNvSpPr>
            <a:spLocks noGrp="1"/>
          </ns0:cNvSpPr>
          <ns0:nvPr/>
        </ns0:nvSpPr>
        <ns0:spPr>
          <a:xfrm>
            <a:off x="7562850" y="1809750"/>
            <a:ext cx="4000500" cy="4095750"/>
          </a:xfrm>
          <a:prstGeom prst="rect">
            <a:avLst/>
          </a:prstGeom>
          <a:solidFill>
            <a:srgbClr val="EAF7EF"/>
          </a:solidFill>
          <a:ln w="9525">
            <a:solidFill>
              <a:srgbClr val="2D7D46"/>
            </a:solidFill>
            <a:prstDash val="solid"/>
          </a:ln>
        </ns0:spPr>
      </ns0:sp>
      <ns0:pic>
        <ns0:nvPicPr>
          <ns0:cNvPr id="10" name=""/>
          <ns0:cNvPicPr>
            <a:picLocks noChangeAspect="1"/>
          </ns0:cNvPicPr>
          <ns0:nvPr/>
        </ns0:nvPicPr>
        <ns0:blipFill>
          <a:blip r:embed="R8328822f87f948fa"/>
          <a:stretch/>
        </ns0:blipFill>
        <ns0:spPr>
          <a:xfrm>
            <a:off x="8048625" y="1943100"/>
            <a:ext cx="3028950" cy="3028950"/>
          </a:xfrm>
          <a:prstGeom prst="rect">
            <a:avLst/>
          </a:prstGeom>
        </ns0:spPr>
      </ns0:pic>
      <ns0:sp>
        <ns0:nvSpPr>
          <ns0:cNvPr id="11" name="">
            <a:extLst>
              <a:ext uri="{FF2B5EF4-FFF2-40B4-BE49-F238E27FC236}">
                <ns2:creationId id="{5F3AE77E-F54E-4FB4-A35B-D2E76A95033F}"/>
              </a:ext>
            </a:extLst>
          </ns0:cNvPr>
          <ns0:cNvSpPr>
            <a:spLocks noGrp="1"/>
          </ns0:cNvSpPr>
          <ns0:nvPr/>
        </ns0:nvSpPr>
        <ns0:spPr>
          <a:xfrm>
            <a:off x="9277350" y="2857500"/>
            <a:ext cx="571500" cy="571500"/>
          </a:xfrm>
          <a:prstGeom prst="ellipse">
            <a:avLst/>
          </a:prstGeom>
          <a:solidFill>
            <a:srgbClr val="FFFFFF">
              <a:alpha val="86667"/>
            </a:srgbClr>
          </a:solidFill>
          <a:ln w="19050">
            <a:solidFill>
              <a:srgbClr val="2D7D46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5FF3E1A2-F773-40D8-A0EE-A0F5A7EB6420}"/>
              </a:ext>
            </a:extLst>
          </ns0:cNvPr>
          <ns0:cNvSpPr>
            <a:spLocks noGrp="1"/>
          </ns0:cNvSpPr>
          <ns0:nvPr/>
        </ns0:nvSpPr>
        <ns0:spPr>
          <a:xfrm>
            <a:off x="9486900" y="3009900"/>
            <a:ext cx="266700" cy="266700"/>
          </a:xfrm>
          <a:prstGeom prst="triangle">
            <a:avLst/>
          </a:prstGeom>
          <a:solidFill>
            <a:srgbClr val="2D7D4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5DA3E740-CD97-4E4A-AE09-D29A782A169E}"/>
              </a:ext>
            </a:extLst>
          </ns0:cNvPr>
          <ns0:cNvSpPr>
            <a:spLocks noGrp="1"/>
          </ns0:cNvSpPr>
          <ns0:nvPr/>
        </ns0:nvSpPr>
        <ns0:spPr>
          <a:xfrm>
            <a:off x="7734300" y="5048250"/>
            <a:ext cx="36576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7D46"/>
                </a:solidFill>
                <a:latin typeface="Aptos"/>
                <a:ea typeface="Aptos"/>
                <a:cs typeface="Aptos"/>
                <a:hlinkClick r:id="rIdVideo8_1"/>
              </a:rPr>
              <a:t>Simulation video: active_crystal_like.mp4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A3AA24D8-F87F-4226-B188-C138A2256986}"/>
              </a:ext>
            </a:extLst>
          </ns0:cNvPr>
          <ns0:cNvSpPr>
            <a:spLocks noGrp="1"/>
          </ns0:cNvSpPr>
          <ns0:nvPr/>
        </ns0:nvSpPr>
        <ns0:spPr>
          <a:xfrm>
            <a:off x="7734300" y="52959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5280"/>
          </a:bodyPr>
          <a:lstStyle/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8_1"/>
              </a:rPr>
              <a:t>Local: BTP-2/states/simulation/active_crystal_like.mp4</a:t>
            </a:r>
          </a:p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8_1"/>
              </a:rPr>
              <a:t>GitHub: https://github.com/suraj4556kumar-sketch/Robo_matter_duality/blob/main/BTP-2/states/simulation/active_crystal_like.mp4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B57F721B-35C2-4D59-BF4A-D65670452C9A}"/>
              </a:ext>
            </a:extLst>
          </ns0:cNvPr>
          <ns0:cNvSpPr>
            <a:spLocks noGrp="1"/>
          </ns0:cNvSpPr>
          <ns0:nvPr/>
        </ns0:nvSpPr>
        <ns0:spPr>
          <a:xfrm>
            <a:off x="7562850" y="5962650"/>
            <a:ext cx="400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D7D46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F8A0E767-5C40-4472-AA79-50F1ED921DAD}"/>
              </a:ext>
            </a:extLst>
          </ns0:cNvPr>
          <ns0:cNvSpPr>
            <a:spLocks noGrp="1"/>
          </ns0:cNvSpPr>
          <ns0:nvPr/>
        </ns0:nvSpPr>
        <ns0:spPr>
          <a:xfrm>
            <a:off x="7696200" y="6029325"/>
            <a:ext cx="3733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38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Interpretation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A2F51FF5-A63C-4B4A-9143-7BA49F4C0C8A}"/>
              </a:ext>
            </a:extLst>
          </ns0:cNvPr>
          <ns0:cNvSpPr>
            <a:spLocks noGrp="1"/>
          </ns0:cNvSpPr>
          <ns0:nvPr/>
        </ns0:nvSpPr>
        <ns0:spPr>
          <a:xfrm>
            <a:off x="7696200" y="6219825"/>
            <a:ext cx="3733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0527"/>
          </a:bodyPr>
          <a:lstStyle/>
          <a:p>
            <a:pPr algn="l">
              <a:lnSpc>
                <a:spcPct val="112000"/>
              </a:lnSpc>
              <a:buNone/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r6 rises close to 0.9; neighbor exchange falls after the early search stage.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14230455-CBDA-488D-994E-5D92F5D4CE41}"/>
              </a:ext>
            </a:extLst>
          </ns0:cNvPr>
          <ns0:cNvSpPr>
            <a:spLocks noGrp="1"/>
          </ns0:cNvSpPr>
          <ns0:nvPr/>
        </ns0:nvSpPr>
        <ns0:spPr>
          <a:xfrm>
            <a:off x="457200" y="6477000"/>
            <a:ext cx="9810750" cy="95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D73F5166-048A-459F-91F8-21C4710CB382}"/>
              </a:ext>
            </a:extLst>
          </ns0:cNvPr>
          <ns0:cNvSpPr>
            <a:spLocks noGrp="1"/>
          </ns0:cNvSpPr>
          <ns0:nvPr/>
        </ns0:nvSpPr>
        <ns0:spPr>
          <a:xfrm>
            <a:off x="457200" y="65532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184D9133-63A1-4FC2-8873-4368850F049B}"/>
              </a:ext>
            </a:extLst>
          </ns0:cNvPr>
          <ns0:cNvSpPr>
            <a:spLocks noGrp="1"/>
          </ns0:cNvSpPr>
          <ns0:nvPr/>
        </ns0:nvSpPr>
        <ns0:spPr>
          <a:xfrm>
            <a:off x="11049000" y="65151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08</a:t>
            </a:r>
          </a:p>
        </ns0:txBody>
      </ns0:sp>
    </ns0:spTree>
    <ns0:extLst>
      <ns0:ext uri="{BB962C8B-B14F-4D97-AF65-F5344CB8AC3E}">
        <ns4:creationId val="52032223"/>
      </ns0:ext>
    </ns0:extLst>
  </ns0:cSld>
</ns0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40E9C-B82F-4DD3-9D90-B9470DD7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9">
            <a:extLst xmlns:a="http://schemas.openxmlformats.org/drawingml/2006/main">
              <a:ext uri="{FF2B5EF4-FFF2-40B4-BE49-F238E27FC236}">
                <a16:creationId xmlns:a16="http://schemas.microsoft.com/office/drawing/2014/main" id="{CC5783D3-DF79-4E2F-BFE6-154F9231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9">
            <a:extLst xmlns:a="http://schemas.openxmlformats.org/drawingml/2006/main">
              <a:ext uri="{FF2B5EF4-FFF2-40B4-BE49-F238E27FC236}">
                <a16:creationId xmlns:a16="http://schemas.microsoft.com/office/drawing/2014/main" id="{F1CAA1E2-DA0C-4855-BB3F-C5450C6C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ACTIVE CRYSTAL MSD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91B4B-CAB9-41F0-97B4-1F8AB079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Active crystal: MSD shows the mobility scale behind the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0923E-BAE2-4075-8CDC-1667EC1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MSD curve is read together with r6 and nc so that visual order is not confused with dynamical freedom.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0178-A0D3-469F-9E55-137ADBA2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b57baafe34862"/>
          <a:stretch xmlns:a="http://schemas.openxmlformats.org/drawingml/2006/main"/>
        </p:blipFill>
        <p:spPr>
          <a:xfrm xmlns:a="http://schemas.openxmlformats.org/drawingml/2006/main">
            <a:off x="1377315" y="1952625"/>
            <a:ext cx="4960620" cy="3543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E6A0A-A259-4AF5-AE31-D1502C43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49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Mean squared displacement versus lag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C8C1A-BFDC-4FAD-BE66-0A12902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05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7433C-C37E-4E98-87FC-6B5742EB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71675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r6 high / nc low / MSD ~3.59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D8DD9-125F-439D-8E5A-6C7A1C6B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73887-D561-4C4C-81B8-2EB257DF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670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2D7D46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D7D46"/>
                </a:solidFill>
                <a:latin typeface="Aptos Mono"/>
                <a:ea typeface="Aptos Mono"/>
                <a:cs typeface="Aptos Mono"/>
              </a:rPr>
              <a:t>MSD(tau) = &lt; |x_i(t+tau) - x_i(t)|^2 &gt;_{i,t}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A05B8-D701-4250-A85D-1B5833F5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CAB78-02C0-4CD7-9C2F-8F78D84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147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Physical 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B1D76-C9AF-4C3E-A339-DC6994A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38600"/>
            <a:ext cx="3086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Final repeated-seed MSD mean is about 3.59 on the short-lag window, so the state is active but spatially constrained.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C4FF7-5A71-4B00-8DBF-FFFC5F18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09757-B58C-471E-B7C4-7BBBB463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95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Classification 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F2F09-13CB-43AB-8480-EA74B8C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197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56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MSD with high r6 indicates constrained order; high MSD with persistent nc indicates reconfiguration; high MSD with low r6 indicates dispersal.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6AD5B-B0A4-48C4-B166-A6DE21C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76E0C-1C21-40C0-BB0B-E646AA6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5B5E6-5D2E-4B7A-8AC7-7ABB0E8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989543"/>
      </p:ext>
    </p:extLst>
  </p:cSld>
</p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4="http://schemas.microsoft.com/office/powerpoint/2010/main" xmlns:r="http://schemas.openxmlformats.org/officeDocument/2006/relationships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9837194D-3C43-491A-B2F0-3F9512D3424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kicker-marker-10">
            <a:extLst>
              <a:ext uri="{FF2B5EF4-FFF2-40B4-BE49-F238E27FC236}">
                <ns2:creationId id="{C0F46421-F650-4D52-B9D6-B0CBF9B18F0E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95250" cy="95250"/>
          </a:xfrm>
          <a:prstGeom prst="rect">
            <a:avLst/>
          </a:prstGeom>
          <a:solidFill>
            <a:srgbClr val="A66A0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kicker-label-10">
            <a:extLst>
              <a:ext uri="{FF2B5EF4-FFF2-40B4-BE49-F238E27FC236}">
                <ns2:creationId id="{DDCC30F7-9D8F-4916-9B6B-A9B540859427}"/>
              </a:ext>
            </a:extLst>
          </ns0:cNvPr>
          <ns0:cNvSpPr>
            <a:spLocks noGrp="1"/>
          </ns0:cNvSpPr>
          <ns0:nvPr/>
        </ns0:nvSpPr>
        <ns0:spPr>
          <a:xfrm>
            <a:off x="628650" y="219075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ARRESTED LOCAL ORDER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6F4BA9FB-7BFE-4218-AFE4-6CCF5AFA5C17}"/>
              </a:ext>
            </a:extLst>
          </ns0:cNvPr>
          <ns0:cNvSpPr>
            <a:spLocks noGrp="1"/>
          </ns0:cNvSpPr>
          <ns0:nvPr/>
        </ns0:nvSpPr>
        <ns0:spPr>
          <a:xfrm>
            <a:off x="457200" y="571500"/>
            <a:ext cx="7429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2449"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Active glass-like: parameter trace separates structure from rearrangement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8529417-17DC-436D-986A-96E36B665656}"/>
              </a:ext>
            </a:extLst>
          </ns0:cNvPr>
          <ns0:cNvSpPr>
            <a:spLocks noGrp="1"/>
          </ns0:cNvSpPr>
          <ns0:nvPr/>
        </ns0:nvSpPr>
        <ns0:spPr>
          <a:xfrm>
            <a:off x="476250" y="1381125"/>
            <a:ext cx="676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Strong binding forms local clusters, but low rearrangement traps the system kinetically.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BFD658F-FB7E-4884-8C6B-4F8131A49D1D}"/>
              </a:ext>
            </a:extLst>
          </ns0:cNvPr>
          <ns0:cNvSpPr>
            <a:spLocks noGrp="1"/>
          </ns0:cNvSpPr>
          <ns0:nvPr/>
        </ns0:nvSpPr>
        <ns0:spPr>
          <a:xfrm>
            <a:off x="457200" y="1952625"/>
            <a:ext cx="67627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66A00"/>
            </a:solidFill>
            <a:prstDash val="solid"/>
          </a:ln>
        </ns0:spPr>
      </ns0:sp>
      <ns0:pic>
        <ns0:nvPicPr>
          <ns0:cNvPr id="7" name=""/>
          <ns0:cNvPicPr>
            <a:picLocks noChangeAspect="1"/>
          </ns0:cNvPicPr>
          <ns0:nvPr/>
        </ns0:nvPicPr>
        <ns0:blipFill>
          <a:blip r:embed="Rd53197b5dbbe4e24"/>
          <a:stretch/>
        </ns0:blipFill>
        <ns0:spPr>
          <a:xfrm>
            <a:off x="1539875" y="2047875"/>
            <a:ext cx="4597400" cy="3448050"/>
          </a:xfrm>
          <a:prstGeom prst="rect">
            <a:avLst/>
          </a:prstGeom>
        </ns0:spPr>
      </ns0:pic>
      <ns0:sp>
        <ns0:nvSpPr>
          <ns0:cNvPr id="8" name="">
            <a:extLst>
              <a:ext uri="{FF2B5EF4-FFF2-40B4-BE49-F238E27FC236}">
                <ns2:creationId id="{B8165564-E569-4CA2-8204-54C1EEBCF724}"/>
              </a:ext>
            </a:extLst>
          </ns0:cNvPr>
          <ns0:cNvSpPr>
            <a:spLocks noGrp="1"/>
          </ns0:cNvSpPr>
          <ns0:nvPr/>
        </ns0:nvSpPr>
        <ns0:spPr>
          <a:xfrm>
            <a:off x="590550" y="5534025"/>
            <a:ext cx="649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Order parameter r6 and nearest-neighbor change rate nc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7B3F14B4-5380-471B-8AE4-427060360115}"/>
              </a:ext>
            </a:extLst>
          </ns0:cNvPr>
          <ns0:cNvSpPr>
            <a:spLocks noGrp="1"/>
          </ns0:cNvSpPr>
          <ns0:nvPr/>
        </ns0:nvSpPr>
        <ns0:spPr>
          <a:xfrm>
            <a:off x="7562850" y="1809750"/>
            <a:ext cx="4000500" cy="4095750"/>
          </a:xfrm>
          <a:prstGeom prst="rect">
            <a:avLst/>
          </a:prstGeom>
          <a:solidFill>
            <a:srgbClr val="FFF1D1"/>
          </a:solidFill>
          <a:ln w="9525">
            <a:solidFill>
              <a:srgbClr val="A66A00"/>
            </a:solidFill>
            <a:prstDash val="solid"/>
          </a:ln>
        </ns0:spPr>
      </ns0:sp>
      <ns0:pic>
        <ns0:nvPicPr>
          <ns0:cNvPr id="10" name=""/>
          <ns0:cNvPicPr>
            <a:picLocks noChangeAspect="1"/>
          </ns0:cNvPicPr>
          <ns0:nvPr/>
        </ns0:nvPicPr>
        <ns0:blipFill>
          <a:blip r:embed="Rae909969b1364028"/>
          <a:stretch/>
        </ns0:blipFill>
        <ns0:spPr>
          <a:xfrm>
            <a:off x="8023847" y="1943100"/>
            <a:ext cx="3078506" cy="3028950"/>
          </a:xfrm>
          <a:prstGeom prst="rect">
            <a:avLst/>
          </a:prstGeom>
        </ns0:spPr>
      </ns0:pic>
      <ns0:sp>
        <ns0:nvSpPr>
          <ns0:cNvPr id="11" name="">
            <a:extLst>
              <a:ext uri="{FF2B5EF4-FFF2-40B4-BE49-F238E27FC236}">
                <ns2:creationId id="{2BE85F2C-0FE4-437D-8E60-B0D3F9685C2B}"/>
              </a:ext>
            </a:extLst>
          </ns0:cNvPr>
          <ns0:cNvSpPr>
            <a:spLocks noGrp="1"/>
          </ns0:cNvSpPr>
          <ns0:nvPr/>
        </ns0:nvSpPr>
        <ns0:spPr>
          <a:xfrm>
            <a:off x="9277350" y="2857500"/>
            <a:ext cx="571500" cy="571500"/>
          </a:xfrm>
          <a:prstGeom prst="ellipse">
            <a:avLst/>
          </a:prstGeom>
          <a:solidFill>
            <a:srgbClr val="FFFFFF">
              <a:alpha val="86667"/>
            </a:srgbClr>
          </a:solidFill>
          <a:ln w="19050">
            <a:solidFill>
              <a:srgbClr val="A66A00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E15B676F-7A80-4234-A272-054192FDC532}"/>
              </a:ext>
            </a:extLst>
          </ns0:cNvPr>
          <ns0:cNvSpPr>
            <a:spLocks noGrp="1"/>
          </ns0:cNvSpPr>
          <ns0:nvPr/>
        </ns0:nvSpPr>
        <ns0:spPr>
          <a:xfrm>
            <a:off x="9486900" y="3009900"/>
            <a:ext cx="266700" cy="266700"/>
          </a:xfrm>
          <a:prstGeom prst="triangle">
            <a:avLst/>
          </a:prstGeom>
          <a:solidFill>
            <a:srgbClr val="A66A0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EBAC45C3-F057-47B9-8EE4-5455BA85B16C}"/>
              </a:ext>
            </a:extLst>
          </ns0:cNvPr>
          <ns0:cNvSpPr>
            <a:spLocks noGrp="1"/>
          </ns0:cNvSpPr>
          <ns0:nvPr/>
        </ns0:nvSpPr>
        <ns0:spPr>
          <a:xfrm>
            <a:off x="7734300" y="5048250"/>
            <a:ext cx="36576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6A00"/>
                </a:solidFill>
                <a:latin typeface="Aptos"/>
                <a:ea typeface="Aptos"/>
                <a:cs typeface="Aptos"/>
                <a:hlinkClick r:id="rIdVideo10_1"/>
              </a:rPr>
              <a:t>Simulation video: active_glass.mp4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4E27D946-9AED-4913-9E1D-592AAC51C6FC}"/>
              </a:ext>
            </a:extLst>
          </ns0:cNvPr>
          <ns0:cNvSpPr>
            <a:spLocks noGrp="1"/>
          </ns0:cNvSpPr>
          <ns0:nvPr/>
        </ns0:nvSpPr>
        <ns0:spPr>
          <a:xfrm>
            <a:off x="7734300" y="52959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5280"/>
          </a:bodyPr>
          <a:lstStyle/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10_1"/>
              </a:rPr>
              <a:t>Local: BTP-2/states/simulation/active_glass.mp4</a:t>
            </a:r>
          </a:p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10_1"/>
              </a:rPr>
              <a:t>GitHub: https://github.com/suraj4556kumar-sketch/Robo_matter_duality/blob/main/BTP-2/states/simulation/active_glass.mp4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22FEB28-219C-41F6-9B42-F0E936280E60}"/>
              </a:ext>
            </a:extLst>
          </ns0:cNvPr>
          <ns0:cNvSpPr>
            <a:spLocks noGrp="1"/>
          </ns0:cNvSpPr>
          <ns0:nvPr/>
        </ns0:nvSpPr>
        <ns0:spPr>
          <a:xfrm>
            <a:off x="7562850" y="5962650"/>
            <a:ext cx="400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6A00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3AF7AE3C-1569-4209-8051-E4CB8D1B4A3E}"/>
              </a:ext>
            </a:extLst>
          </ns0:cNvPr>
          <ns0:cNvSpPr>
            <a:spLocks noGrp="1"/>
          </ns0:cNvSpPr>
          <ns0:nvPr/>
        </ns0:nvSpPr>
        <ns0:spPr>
          <a:xfrm>
            <a:off x="7696200" y="6029325"/>
            <a:ext cx="3733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38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Interpretation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5780C11E-98C2-4D0C-BBA9-C617D786B268}"/>
              </a:ext>
            </a:extLst>
          </ns0:cNvPr>
          <ns0:cNvSpPr>
            <a:spLocks noGrp="1"/>
          </ns0:cNvSpPr>
          <ns0:nvPr/>
        </ns0:nvSpPr>
        <ns0:spPr>
          <a:xfrm>
            <a:off x="7696200" y="6219825"/>
            <a:ext cx="3733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0527"/>
          </a:bodyPr>
          <a:lstStyle/>
          <a:p>
            <a:pPr algn="l">
              <a:lnSpc>
                <a:spcPct val="112000"/>
              </a:lnSpc>
              <a:buNone/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r6 grows, but nc collapses toward zero; order appears without healthy reorganization.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6BA751ED-B9D6-4316-ADE9-A10696A9222D}"/>
              </a:ext>
            </a:extLst>
          </ns0:cNvPr>
          <ns0:cNvSpPr>
            <a:spLocks noGrp="1"/>
          </ns0:cNvSpPr>
          <ns0:nvPr/>
        </ns0:nvSpPr>
        <ns0:spPr>
          <a:xfrm>
            <a:off x="457200" y="6477000"/>
            <a:ext cx="9810750" cy="95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4573E4F0-1EF5-4467-AE23-CF96FE3AE6FA}"/>
              </a:ext>
            </a:extLst>
          </ns0:cNvPr>
          <ns0:cNvSpPr>
            <a:spLocks noGrp="1"/>
          </ns0:cNvSpPr>
          <ns0:nvPr/>
        </ns0:nvSpPr>
        <ns0:spPr>
          <a:xfrm>
            <a:off x="457200" y="65532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5674A6FE-B24E-4D6D-B6D0-9D3AA45C4C4F}"/>
              </a:ext>
            </a:extLst>
          </ns0:cNvPr>
          <ns0:cNvSpPr>
            <a:spLocks noGrp="1"/>
          </ns0:cNvSpPr>
          <ns0:nvPr/>
        </ns0:nvSpPr>
        <ns0:spPr>
          <a:xfrm>
            <a:off x="11049000" y="65151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10</a:t>
            </a:r>
          </a:p>
        </ns0:txBody>
      </ns0:sp>
    </ns0:spTree>
    <ns0:extLst>
      <ns0:ext uri="{BB962C8B-B14F-4D97-AF65-F5344CB8AC3E}">
        <ns4:creationId val="265228310"/>
      </ns0:ext>
    </ns0:extLst>
  </ns0:cSld>
</ns0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EAD5C-78BF-43AE-8BFD-E96FDA8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1">
            <a:extLst xmlns:a="http://schemas.openxmlformats.org/drawingml/2006/main">
              <a:ext uri="{FF2B5EF4-FFF2-40B4-BE49-F238E27FC236}">
                <a16:creationId xmlns:a16="http://schemas.microsoft.com/office/drawing/2014/main" id="{A744FBD2-4434-41D2-AF23-309E7A9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1">
            <a:extLst xmlns:a="http://schemas.openxmlformats.org/drawingml/2006/main">
              <a:ext uri="{FF2B5EF4-FFF2-40B4-BE49-F238E27FC236}">
                <a16:creationId xmlns:a16="http://schemas.microsoft.com/office/drawing/2014/main" id="{CFE78D7D-3E5F-4938-85D3-0B8125E6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ACTIVE GLASS-LIKE MSD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5304F-13D0-4C84-A135-10775540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Active glass-like: MSD shows the mobility scale behind the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7F645-F403-438F-A918-F2A3952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MSD curve is read together with r6 and nc so that visual order is not confused with dynamical freedom.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6DEA8-838E-4F9C-BFA1-2837B87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516ecde324f9f"/>
          <a:stretch xmlns:a="http://schemas.openxmlformats.org/drawingml/2006/main"/>
        </p:blipFill>
        <p:spPr>
          <a:xfrm xmlns:a="http://schemas.openxmlformats.org/drawingml/2006/main">
            <a:off x="1377315" y="1952625"/>
            <a:ext cx="4960620" cy="3543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044BA-936A-4679-84E6-71DE9F69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49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Mean squared displacement versus lag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336C9-CB28-498D-B6B2-AF345CF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05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1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43A5F-5DE6-4B84-83EE-AFA88AD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71675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r6 high / nc very low / MSD ~2.62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35EF8-77BA-4671-92B2-F9032A7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7397A-E485-48A9-A06D-FF1764D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670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A66A0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A66A00"/>
                </a:solidFill>
                <a:latin typeface="Aptos Mono"/>
                <a:ea typeface="Aptos Mono"/>
                <a:cs typeface="Aptos Mono"/>
              </a:rPr>
              <a:t>MSD(tau) = &lt; |x_i(t+tau) - x_i(t)|^2 &gt;_{i,t}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E4E80-FF76-4FFE-B9CF-702804D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A4897-43A0-42E7-A84A-036853B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147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Physical 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CB503-222F-4D5D-9E8F-88B9522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38600"/>
            <a:ext cx="3086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Final repeated-seed MSD mean is about 2.62, the most restricted mobility among the tested regimes.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27187-CD81-4D20-8DFE-4B2A1032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05F38-4E67-4327-9B0D-3897E93B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95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Classification 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71F35-C15B-43D7-A2C8-103E59F6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197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56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MSD with high r6 indicates constrained order; high MSD with persistent nc indicates reconfiguration; high MSD with low r6 indicates dispersal.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5D006-7FCE-4CFF-83B2-A835D052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F55B8-BD0A-4B65-BF41-54181BB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A1FE3-1C06-40EB-AC1D-3BEB2AA1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48561"/>
      </p:ext>
    </p:extLst>
  </p:cSld>
</p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4="http://schemas.microsoft.com/office/powerpoint/2010/main" xmlns:r="http://schemas.openxmlformats.org/officeDocument/2006/relationships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D41CC92-C6D3-4E3F-8F0E-C5D4902A0DBD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kicker-marker-12">
            <a:extLst>
              <a:ext uri="{FF2B5EF4-FFF2-40B4-BE49-F238E27FC236}">
                <ns2:creationId id="{26DC1CE3-082B-4553-99E5-55494EFA6DA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95250" cy="9525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kicker-label-12">
            <a:extLst>
              <a:ext uri="{FF2B5EF4-FFF2-40B4-BE49-F238E27FC236}">
                <ns2:creationId id="{126F9062-F541-4AA8-9150-F4933E57671A}"/>
              </a:ext>
            </a:extLst>
          </ns0:cNvPr>
          <ns0:cNvSpPr>
            <a:spLocks noGrp="1"/>
          </ns0:cNvSpPr>
          <ns0:nvPr/>
        </ns0:nvSpPr>
        <ns0:spPr>
          <a:xfrm>
            <a:off x="628650" y="219075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FLOWING RECONFIGURATION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01DA2119-E5E7-40C2-B9A4-F1956FD75142}"/>
              </a:ext>
            </a:extLst>
          </ns0:cNvPr>
          <ns0:cNvSpPr>
            <a:spLocks noGrp="1"/>
          </ns0:cNvSpPr>
          <ns0:nvPr/>
        </ns0:nvSpPr>
        <ns0:spPr>
          <a:xfrm>
            <a:off x="457200" y="571500"/>
            <a:ext cx="7429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2449"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Liquid-like: parameter trace separates structure from rearrangement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C328D9A1-9D39-4ED8-A23E-27910134E80F}"/>
              </a:ext>
            </a:extLst>
          </ns0:cNvPr>
          <ns0:cNvSpPr>
            <a:spLocks noGrp="1"/>
          </ns0:cNvSpPr>
          <ns0:nvPr/>
        </ns0:nvSpPr>
        <ns0:spPr>
          <a:xfrm>
            <a:off x="476250" y="1381125"/>
            <a:ext cx="676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Comparable activity and binding maintain transient contacts while allowing continuous flow.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70016902-4B47-4F94-BE79-BFF76AC2EE75}"/>
              </a:ext>
            </a:extLst>
          </ns0:cNvPr>
          <ns0:cNvSpPr>
            <a:spLocks noGrp="1"/>
          </ns0:cNvSpPr>
          <ns0:nvPr/>
        </ns0:nvSpPr>
        <ns0:spPr>
          <a:xfrm>
            <a:off x="457200" y="1952625"/>
            <a:ext cx="67627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ns0:spPr>
      </ns0:sp>
      <ns0:pic>
        <ns0:nvPicPr>
          <ns0:cNvPr id="7" name=""/>
          <ns0:cNvPicPr>
            <a:picLocks noChangeAspect="1"/>
          </ns0:cNvPicPr>
          <ns0:nvPr/>
        </ns0:nvPicPr>
        <ns0:blipFill>
          <a:blip r:embed="R50be9386fb794f28"/>
          <a:stretch/>
        </ns0:blipFill>
        <ns0:spPr>
          <a:xfrm>
            <a:off x="1539875" y="2047875"/>
            <a:ext cx="4597400" cy="3448050"/>
          </a:xfrm>
          <a:prstGeom prst="rect">
            <a:avLst/>
          </a:prstGeom>
        </ns0:spPr>
      </ns0:pic>
      <ns0:sp>
        <ns0:nvSpPr>
          <ns0:cNvPr id="8" name="">
            <a:extLst>
              <a:ext uri="{FF2B5EF4-FFF2-40B4-BE49-F238E27FC236}">
                <ns2:creationId id="{2B029C8A-86CC-41BB-B426-50E620C4C3D1}"/>
              </a:ext>
            </a:extLst>
          </ns0:cNvPr>
          <ns0:cNvSpPr>
            <a:spLocks noGrp="1"/>
          </ns0:cNvSpPr>
          <ns0:nvPr/>
        </ns0:nvSpPr>
        <ns0:spPr>
          <a:xfrm>
            <a:off x="590550" y="5534025"/>
            <a:ext cx="649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Order parameter r6 and nearest-neighbor change rate nc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C55FAD55-6B86-4DE8-8595-90364347D8CE}"/>
              </a:ext>
            </a:extLst>
          </ns0:cNvPr>
          <ns0:cNvSpPr>
            <a:spLocks noGrp="1"/>
          </ns0:cNvSpPr>
          <ns0:nvPr/>
        </ns0:nvSpPr>
        <ns0:spPr>
          <a:xfrm>
            <a:off x="7562850" y="1809750"/>
            <a:ext cx="4000500" cy="4095750"/>
          </a:xfrm>
          <a:prstGeom prst="rect">
            <a:avLst/>
          </a:prstGeom>
          <a:solidFill>
            <a:srgbClr val="E7F0F8"/>
          </a:solidFill>
          <a:ln w="9525">
            <a:solidFill>
              <a:srgbClr val="1F4E79"/>
            </a:solidFill>
            <a:prstDash val="solid"/>
          </a:ln>
        </ns0:spPr>
      </ns0:sp>
      <ns0:pic>
        <ns0:nvPicPr>
          <ns0:cNvPr id="10" name=""/>
          <ns0:cNvPicPr>
            <a:picLocks noChangeAspect="1"/>
          </ns0:cNvPicPr>
          <ns0:nvPr/>
        </ns0:nvPicPr>
        <ns0:blipFill>
          <a:blip r:embed="R561376f85b6c4bf4"/>
          <a:stretch/>
        </ns0:blipFill>
        <ns0:spPr>
          <a:xfrm>
            <a:off x="8048625" y="1943100"/>
            <a:ext cx="3028950" cy="3028950"/>
          </a:xfrm>
          <a:prstGeom prst="rect">
            <a:avLst/>
          </a:prstGeom>
        </ns0:spPr>
      </ns0:pic>
      <ns0:sp>
        <ns0:nvSpPr>
          <ns0:cNvPr id="11" name="">
            <a:extLst>
              <a:ext uri="{FF2B5EF4-FFF2-40B4-BE49-F238E27FC236}">
                <ns2:creationId id="{5D063F63-F740-4663-9DE7-5EC7ACD77048}"/>
              </a:ext>
            </a:extLst>
          </ns0:cNvPr>
          <ns0:cNvSpPr>
            <a:spLocks noGrp="1"/>
          </ns0:cNvSpPr>
          <ns0:nvPr/>
        </ns0:nvSpPr>
        <ns0:spPr>
          <a:xfrm>
            <a:off x="9277350" y="2857500"/>
            <a:ext cx="571500" cy="571500"/>
          </a:xfrm>
          <a:prstGeom prst="ellipse">
            <a:avLst/>
          </a:prstGeom>
          <a:solidFill>
            <a:srgbClr val="FFFFFF">
              <a:alpha val="86667"/>
            </a:srgbClr>
          </a:solidFill>
          <a:ln w="19050">
            <a:solidFill>
              <a:srgbClr val="1F4E79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0F7D480C-A25D-48C3-AEBB-33CC02BD0D5E}"/>
              </a:ext>
            </a:extLst>
          </ns0:cNvPr>
          <ns0:cNvSpPr>
            <a:spLocks noGrp="1"/>
          </ns0:cNvSpPr>
          <ns0:nvPr/>
        </ns0:nvSpPr>
        <ns0:spPr>
          <a:xfrm>
            <a:off x="9486900" y="3009900"/>
            <a:ext cx="266700" cy="266700"/>
          </a:xfrm>
          <a:prstGeom prst="triangl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61C0953-8C84-4AB7-B66B-4BA555819E7D}"/>
              </a:ext>
            </a:extLst>
          </ns0:cNvPr>
          <ns0:cNvSpPr>
            <a:spLocks noGrp="1"/>
          </ns0:cNvSpPr>
          <ns0:nvPr/>
        </ns0:nvSpPr>
        <ns0:spPr>
          <a:xfrm>
            <a:off x="7734300" y="5048250"/>
            <a:ext cx="36576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4E79"/>
                </a:solidFill>
                <a:latin typeface="Aptos"/>
                <a:ea typeface="Aptos"/>
                <a:cs typeface="Aptos"/>
                <a:hlinkClick r:id="rIdVideo12_1"/>
              </a:rPr>
              <a:t>Simulation video: liquid_like.mp4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6F954EB-9344-487D-82B5-848224598308}"/>
              </a:ext>
            </a:extLst>
          </ns0:cNvPr>
          <ns0:cNvSpPr>
            <a:spLocks noGrp="1"/>
          </ns0:cNvSpPr>
          <ns0:nvPr/>
        </ns0:nvSpPr>
        <ns0:spPr>
          <a:xfrm>
            <a:off x="7734300" y="52959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5280"/>
          </a:bodyPr>
          <a:lstStyle/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12_1"/>
              </a:rPr>
              <a:t>Local: BTP-2/states/simulation/liquid_like.mp4</a:t>
            </a:r>
          </a:p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12_1"/>
              </a:rPr>
              <a:t>GitHub: https://github.com/suraj4556kumar-sketch/Robo_matter_duality/blob/main/BTP-2/states/simulation/liquid_like.mp4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A454797D-CAE6-4937-B6B1-5882FA0CBC44}"/>
              </a:ext>
            </a:extLst>
          </ns0:cNvPr>
          <ns0:cNvSpPr>
            <a:spLocks noGrp="1"/>
          </ns0:cNvSpPr>
          <ns0:nvPr/>
        </ns0:nvSpPr>
        <ns0:spPr>
          <a:xfrm>
            <a:off x="7562850" y="5962650"/>
            <a:ext cx="400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9BFF8B5B-63C7-45C3-8D84-365ED96A2E27}"/>
              </a:ext>
            </a:extLst>
          </ns0:cNvPr>
          <ns0:cNvSpPr>
            <a:spLocks noGrp="1"/>
          </ns0:cNvSpPr>
          <ns0:nvPr/>
        </ns0:nvSpPr>
        <ns0:spPr>
          <a:xfrm>
            <a:off x="7696200" y="6029325"/>
            <a:ext cx="3733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38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Interpretation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FF0137B1-F492-42DB-8D2F-811F8F5637EF}"/>
              </a:ext>
            </a:extLst>
          </ns0:cNvPr>
          <ns0:cNvSpPr>
            <a:spLocks noGrp="1"/>
          </ns0:cNvSpPr>
          <ns0:nvPr/>
        </ns0:nvSpPr>
        <ns0:spPr>
          <a:xfrm>
            <a:off x="7696200" y="6219825"/>
            <a:ext cx="3733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0195"/>
          </a:bodyPr>
          <a:lstStyle/>
          <a:p>
            <a:pPr algn="l">
              <a:lnSpc>
                <a:spcPct val="112000"/>
              </a:lnSpc>
              <a:buNone/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r6 increases slowly, while nc remains high and fluctuating; bonds form and break persistently.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1694152B-BEFD-47CD-B163-E9D5ED984863}"/>
              </a:ext>
            </a:extLst>
          </ns0:cNvPr>
          <ns0:cNvSpPr>
            <a:spLocks noGrp="1"/>
          </ns0:cNvSpPr>
          <ns0:nvPr/>
        </ns0:nvSpPr>
        <ns0:spPr>
          <a:xfrm>
            <a:off x="457200" y="6477000"/>
            <a:ext cx="9810750" cy="95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38CDCF04-31E1-40B6-A2AC-CCEA1717A6B7}"/>
              </a:ext>
            </a:extLst>
          </ns0:cNvPr>
          <ns0:cNvSpPr>
            <a:spLocks noGrp="1"/>
          </ns0:cNvSpPr>
          <ns0:nvPr/>
        </ns0:nvSpPr>
        <ns0:spPr>
          <a:xfrm>
            <a:off x="457200" y="65532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61E57BB1-D18C-4116-B3BE-26F4E494BF7B}"/>
              </a:ext>
            </a:extLst>
          </ns0:cNvPr>
          <ns0:cNvSpPr>
            <a:spLocks noGrp="1"/>
          </ns0:cNvSpPr>
          <ns0:nvPr/>
        </ns0:nvSpPr>
        <ns0:spPr>
          <a:xfrm>
            <a:off x="11049000" y="65151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12</a:t>
            </a:r>
          </a:p>
        </ns0:txBody>
      </ns0:sp>
    </ns0:spTree>
    <ns0:extLst>
      <ns0:ext uri="{BB962C8B-B14F-4D97-AF65-F5344CB8AC3E}">
        <ns4:creationId val="1190970769"/>
      </ns0:ext>
    </ns0:extLst>
  </ns0:cSld>
</ns0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094AA9-5DE3-452C-9F07-7C5589D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3">
            <a:extLst xmlns:a="http://schemas.openxmlformats.org/drawingml/2006/main">
              <a:ext uri="{FF2B5EF4-FFF2-40B4-BE49-F238E27FC236}">
                <a16:creationId xmlns:a16="http://schemas.microsoft.com/office/drawing/2014/main" id="{0BB804F5-3A61-42C5-A400-198402D9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3">
            <a:extLst xmlns:a="http://schemas.openxmlformats.org/drawingml/2006/main">
              <a:ext uri="{FF2B5EF4-FFF2-40B4-BE49-F238E27FC236}">
                <a16:creationId xmlns:a16="http://schemas.microsoft.com/office/drawing/2014/main" id="{4C05FF2D-2808-42A4-86D8-E784B1E2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LIQUID-LIKE MSD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4AFEF-EFE0-4DAF-AB2C-29664E16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Liquid-like: MSD shows the mobility scale behind the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F54C1-D5C3-4145-AA72-297ED4A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MSD curve is read together with r6 and nc so that visual order is not confused with dynamical freedom.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16F64-BFA5-4ED1-9E11-CBF109D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dd08a799544cd"/>
          <a:stretch xmlns:a="http://schemas.openxmlformats.org/drawingml/2006/main"/>
        </p:blipFill>
        <p:spPr>
          <a:xfrm xmlns:a="http://schemas.openxmlformats.org/drawingml/2006/main">
            <a:off x="1377315" y="1952625"/>
            <a:ext cx="4960620" cy="3543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7A145-6852-49F2-BF29-33044CD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49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Mean squared displacement versus lag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5A060-1ABA-4E4D-B345-2B3A7DE2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05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0CCBC-C4D8-43E5-980E-5ED9E617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71675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r6 medium / nc high / MSD ~71.37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D4AC6-BE71-4863-88FB-8AE9D46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00CC3-0492-40E6-9B86-08666ABB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670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F4E79"/>
                </a:solidFill>
                <a:latin typeface="Aptos Mono"/>
                <a:ea typeface="Aptos Mono"/>
                <a:cs typeface="Aptos Mono"/>
              </a:rPr>
              <a:t>MSD(tau) = &lt; |x_i(t+tau) - x_i(t)|^2 &gt;_{i,t}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01265-46A9-409C-945B-27B3C7B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D2C29-47D1-4750-9A28-FFEB6022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147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Physical 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26D46-EF8A-4858-B474-91A92B5A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38600"/>
            <a:ext cx="3086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Final repeated-seed MSD mean is about 71.37, making this the strongest controlled mobility regime.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B2D0C-FD59-49D3-83FA-42CE01F3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57B7C-079B-4D0D-8F5A-B72D9D09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95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Classification 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7E88C-D5AA-480E-8D67-A604694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197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56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MSD with high r6 indicates constrained order; high MSD with persistent nc indicates reconfiguration; high MSD with low r6 indicates dispersal.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51C87-1D7E-4F4F-8155-C87C193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5DC14-3E70-4A13-87C3-B3C81BD0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5106E-3F6D-4C46-B324-4BC1895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88446175"/>
      </p:ext>
    </p:extLst>
  </p:cSld>
</p:sld>
</file>

<file path=ppt/slides/slide14.xml><?xml version="1.0" encoding="utf-8"?>
<ns0:sld xmlns:a="http://schemas.openxmlformats.org/drawingml/2006/main" xmlns:ns0="http://schemas.openxmlformats.org/presentationml/2006/main" xmlns:ns2="http://schemas.microsoft.com/office/drawing/2014/main" xmlns:ns4="http://schemas.microsoft.com/office/powerpoint/2010/main" xmlns:r="http://schemas.openxmlformats.org/officeDocument/2006/relationships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17491AC8-8A69-4328-9CCC-D61332CB31C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kicker-marker-14">
            <a:extLst>
              <a:ext uri="{FF2B5EF4-FFF2-40B4-BE49-F238E27FC236}">
                <ns2:creationId id="{B82E2987-6E01-4A61-A2B8-6170E8227029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95250" cy="95250"/>
          </a:xfrm>
          <a:prstGeom prst="rect">
            <a:avLst/>
          </a:prstGeom>
          <a:solidFill>
            <a:srgbClr val="A6493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kicker-label-14">
            <a:extLst>
              <a:ext uri="{FF2B5EF4-FFF2-40B4-BE49-F238E27FC236}">
                <ns2:creationId id="{B0E4E46C-0B92-4FB9-9BC9-CF7721D87D95}"/>
              </a:ext>
            </a:extLst>
          </ns0:cNvPr>
          <ns0:cNvSpPr>
            <a:spLocks noGrp="1"/>
          </ns0:cNvSpPr>
          <ns0:nvPr/>
        </ns0:nvSpPr>
        <ns0:spPr>
          <a:xfrm>
            <a:off x="628650" y="219075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MOBILE DISORDER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8C747B0C-DFB0-4413-869B-1B97E0305DC5}"/>
              </a:ext>
            </a:extLst>
          </ns0:cNvPr>
          <ns0:cNvSpPr>
            <a:spLocks noGrp="1"/>
          </ns0:cNvSpPr>
          <ns0:nvPr/>
        </ns0:nvSpPr>
        <ns0:spPr>
          <a:xfrm>
            <a:off x="457200" y="571500"/>
            <a:ext cx="7429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2449"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Gas-like: parameter trace separates structure from rearrangement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E5C123EB-3410-4DE7-946B-90A43788CEFB}"/>
              </a:ext>
            </a:extLst>
          </ns0:cNvPr>
          <ns0:cNvSpPr>
            <a:spLocks noGrp="1"/>
          </ns0:cNvSpPr>
          <ns0:nvPr/>
        </ns0:nvSpPr>
        <ns0:spPr>
          <a:xfrm>
            <a:off x="476250" y="1381125"/>
            <a:ext cx="676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High activity with weak binding disperses particles faster than stable contacts can form.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A6607A12-8ADD-4F29-B1BE-4CC99AD701C3}"/>
              </a:ext>
            </a:extLst>
          </ns0:cNvPr>
          <ns0:cNvSpPr>
            <a:spLocks noGrp="1"/>
          </ns0:cNvSpPr>
          <ns0:nvPr/>
        </ns0:nvSpPr>
        <ns0:spPr>
          <a:xfrm>
            <a:off x="457200" y="1952625"/>
            <a:ext cx="67627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64936"/>
            </a:solidFill>
            <a:prstDash val="solid"/>
          </a:ln>
        </ns0:spPr>
      </ns0:sp>
      <ns0:pic>
        <ns0:nvPicPr>
          <ns0:cNvPr id="7" name=""/>
          <ns0:cNvPicPr>
            <a:picLocks noChangeAspect="1"/>
          </ns0:cNvPicPr>
          <ns0:nvPr/>
        </ns0:nvPicPr>
        <ns0:blipFill>
          <a:blip r:embed="R795841c546ae4141"/>
          <a:stretch/>
        </ns0:blipFill>
        <ns0:spPr>
          <a:xfrm>
            <a:off x="1539875" y="2047875"/>
            <a:ext cx="4597400" cy="3448050"/>
          </a:xfrm>
          <a:prstGeom prst="rect">
            <a:avLst/>
          </a:prstGeom>
        </ns0:spPr>
      </ns0:pic>
      <ns0:sp>
        <ns0:nvSpPr>
          <ns0:cNvPr id="8" name="">
            <a:extLst>
              <a:ext uri="{FF2B5EF4-FFF2-40B4-BE49-F238E27FC236}">
                <ns2:creationId id="{8531EE99-B659-4824-A798-1E35C037852B}"/>
              </a:ext>
            </a:extLst>
          </ns0:cNvPr>
          <ns0:cNvSpPr>
            <a:spLocks noGrp="1"/>
          </ns0:cNvSpPr>
          <ns0:nvPr/>
        </ns0:nvSpPr>
        <ns0:spPr>
          <a:xfrm>
            <a:off x="590550" y="5534025"/>
            <a:ext cx="649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Order parameter r6 and nearest-neighbor change rate nc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F6A6B466-AA95-42BF-A43A-F464CF5B8404}"/>
              </a:ext>
            </a:extLst>
          </ns0:cNvPr>
          <ns0:cNvSpPr>
            <a:spLocks noGrp="1"/>
          </ns0:cNvSpPr>
          <ns0:nvPr/>
        </ns0:nvSpPr>
        <ns0:spPr>
          <a:xfrm>
            <a:off x="7562850" y="1809750"/>
            <a:ext cx="4000500" cy="4095750"/>
          </a:xfrm>
          <a:prstGeom prst="rect">
            <a:avLst/>
          </a:prstGeom>
          <a:solidFill>
            <a:srgbClr val="FBE6E0"/>
          </a:solidFill>
          <a:ln w="9525">
            <a:solidFill>
              <a:srgbClr val="A64936"/>
            </a:solidFill>
            <a:prstDash val="solid"/>
          </a:ln>
        </ns0:spPr>
      </ns0:sp>
      <ns0:pic>
        <ns0:nvPicPr>
          <ns0:cNvPr id="10" name=""/>
          <ns0:cNvPicPr>
            <a:picLocks noChangeAspect="1"/>
          </ns0:cNvPicPr>
          <ns0:nvPr/>
        </ns0:nvPicPr>
        <ns0:blipFill>
          <a:blip r:embed="Reec6863cfff44087"/>
          <a:stretch/>
        </ns0:blipFill>
        <ns0:spPr>
          <a:xfrm>
            <a:off x="8048625" y="1943100"/>
            <a:ext cx="3028950" cy="3028950"/>
          </a:xfrm>
          <a:prstGeom prst="rect">
            <a:avLst/>
          </a:prstGeom>
        </ns0:spPr>
      </ns0:pic>
      <ns0:sp>
        <ns0:nvSpPr>
          <ns0:cNvPr id="11" name="">
            <a:extLst>
              <a:ext uri="{FF2B5EF4-FFF2-40B4-BE49-F238E27FC236}">
                <ns2:creationId id="{4189AED7-77DB-450F-A07E-52AA860ACEA2}"/>
              </a:ext>
            </a:extLst>
          </ns0:cNvPr>
          <ns0:cNvSpPr>
            <a:spLocks noGrp="1"/>
          </ns0:cNvSpPr>
          <ns0:nvPr/>
        </ns0:nvSpPr>
        <ns0:spPr>
          <a:xfrm>
            <a:off x="9277350" y="2857500"/>
            <a:ext cx="571500" cy="571500"/>
          </a:xfrm>
          <a:prstGeom prst="ellipse">
            <a:avLst/>
          </a:prstGeom>
          <a:solidFill>
            <a:srgbClr val="FFFFFF">
              <a:alpha val="86667"/>
            </a:srgbClr>
          </a:solidFill>
          <a:ln w="19050">
            <a:solidFill>
              <a:srgbClr val="A64936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576ACB54-3F8B-4B6E-A711-DD56D6B3445B}"/>
              </a:ext>
            </a:extLst>
          </ns0:cNvPr>
          <ns0:cNvSpPr>
            <a:spLocks noGrp="1"/>
          </ns0:cNvSpPr>
          <ns0:nvPr/>
        </ns0:nvSpPr>
        <ns0:spPr>
          <a:xfrm>
            <a:off x="9486900" y="3009900"/>
            <a:ext cx="266700" cy="266700"/>
          </a:xfrm>
          <a:prstGeom prst="triangle">
            <a:avLst/>
          </a:prstGeom>
          <a:solidFill>
            <a:srgbClr val="A6493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20CF0474-E931-4B2B-B7AE-085A2719BE3A}"/>
              </a:ext>
            </a:extLst>
          </ns0:cNvPr>
          <ns0:cNvSpPr>
            <a:spLocks noGrp="1"/>
          </ns0:cNvSpPr>
          <ns0:nvPr/>
        </ns0:nvSpPr>
        <ns0:spPr>
          <a:xfrm>
            <a:off x="7734300" y="5048250"/>
            <a:ext cx="36576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4936"/>
                </a:solidFill>
                <a:latin typeface="Aptos"/>
                <a:ea typeface="Aptos"/>
                <a:cs typeface="Aptos"/>
                <a:hlinkClick r:id="rIdVideo14_1"/>
              </a:rPr>
              <a:t>Simulation video: gas_like.mp4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D2A43477-C667-476D-AD3E-DEEA65E63296}"/>
              </a:ext>
            </a:extLst>
          </ns0:cNvPr>
          <ns0:cNvSpPr>
            <a:spLocks noGrp="1"/>
          </ns0:cNvSpPr>
          <ns0:nvPr/>
        </ns0:nvSpPr>
        <ns0:spPr>
          <a:xfrm>
            <a:off x="7734300" y="52959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5280"/>
          </a:bodyPr>
          <a:lstStyle/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14_1"/>
              </a:rPr>
              <a:t>Local: BTP-2/states/simulation/gas_like.mp4</a:t>
            </a:r>
          </a:p>
          <a:p>
            <a:pPr algn="l">
              <a:lnSpc>
                <a:spcPct val="115000"/>
              </a:lnSpc>
              <a:buNone/>
              <a:def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5D6875"/>
                </a:solidFill>
                <a:latin typeface="Aptos Mono"/>
                <a:ea typeface="Aptos Mono"/>
                <a:cs typeface="Aptos Mono"/>
                <a:hlinkClick r:id="rIdVideo14_1"/>
              </a:rPr>
              <a:t>GitHub: https://github.com/suraj4556kumar-sketch/Robo_matter_duality/blob/main/BTP-2/states/simulation/gas_like.mp4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D925FFA-229C-44CE-857A-19B6F7BC4C0B}"/>
              </a:ext>
            </a:extLst>
          </ns0:cNvPr>
          <ns0:cNvSpPr>
            <a:spLocks noGrp="1"/>
          </ns0:cNvSpPr>
          <ns0:nvPr/>
        </ns0:nvSpPr>
        <ns0:spPr>
          <a:xfrm>
            <a:off x="7562850" y="5962650"/>
            <a:ext cx="400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4936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23A69D8E-0258-433C-BC57-F6BDEEC47E78}"/>
              </a:ext>
            </a:extLst>
          </ns0:cNvPr>
          <ns0:cNvSpPr>
            <a:spLocks noGrp="1"/>
          </ns0:cNvSpPr>
          <ns0:nvPr/>
        </ns0:nvSpPr>
        <ns0:spPr>
          <a:xfrm>
            <a:off x="7696200" y="6029325"/>
            <a:ext cx="3733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38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Interpretation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51FA4740-80A0-48FE-98FF-421FAE313141}"/>
              </a:ext>
            </a:extLst>
          </ns0:cNvPr>
          <ns0:cNvSpPr>
            <a:spLocks noGrp="1"/>
          </ns0:cNvSpPr>
          <ns0:nvPr/>
        </ns0:nvSpPr>
        <ns0:spPr>
          <a:xfrm>
            <a:off x="7696200" y="6219825"/>
            <a:ext cx="3733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0527"/>
          </a:bodyPr>
          <a:lstStyle/>
          <a:p>
            <a:pPr algn="l">
              <a:lnSpc>
                <a:spcPct val="112000"/>
              </a:lnSpc>
              <a:buNone/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r6 stays low; nc remains active because collisions occur, but they do not build cohesion.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21B4B98D-A575-4603-B709-CC7A9063DDE5}"/>
              </a:ext>
            </a:extLst>
          </ns0:cNvPr>
          <ns0:cNvSpPr>
            <a:spLocks noGrp="1"/>
          </ns0:cNvSpPr>
          <ns0:nvPr/>
        </ns0:nvSpPr>
        <ns0:spPr>
          <a:xfrm>
            <a:off x="457200" y="6477000"/>
            <a:ext cx="9810750" cy="95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B94AC21D-ACA2-4A36-BF1C-7589AB6E5322}"/>
              </a:ext>
            </a:extLst>
          </ns0:cNvPr>
          <ns0:cNvSpPr>
            <a:spLocks noGrp="1"/>
          </ns0:cNvSpPr>
          <ns0:nvPr/>
        </ns0:nvSpPr>
        <ns0:spPr>
          <a:xfrm>
            <a:off x="457200" y="65532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C900C47F-3668-45DF-93F4-D3DCF1DDC126}"/>
              </a:ext>
            </a:extLst>
          </ns0:cNvPr>
          <ns0:cNvSpPr>
            <a:spLocks noGrp="1"/>
          </ns0:cNvSpPr>
          <ns0:nvPr/>
        </ns0:nvSpPr>
        <ns0:spPr>
          <a:xfrm>
            <a:off x="11049000" y="65151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14</a:t>
            </a:r>
          </a:p>
        </ns0:txBody>
      </ns0:sp>
    </ns0:spTree>
    <ns0:extLst>
      <ns0:ext uri="{BB962C8B-B14F-4D97-AF65-F5344CB8AC3E}">
        <ns4:creationId val="128357072"/>
      </ns0:ext>
    </ns0:extLst>
  </ns0:cSld>
</ns0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C76C3-49BF-4F6D-88CB-510E3176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5">
            <a:extLst xmlns:a="http://schemas.openxmlformats.org/drawingml/2006/main">
              <a:ext uri="{FF2B5EF4-FFF2-40B4-BE49-F238E27FC236}">
                <a16:creationId xmlns:a16="http://schemas.microsoft.com/office/drawing/2014/main" id="{A0E4E2D3-8626-4F48-AFA6-E20F26FB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5">
            <a:extLst xmlns:a="http://schemas.openxmlformats.org/drawingml/2006/main">
              <a:ext uri="{FF2B5EF4-FFF2-40B4-BE49-F238E27FC236}">
                <a16:creationId xmlns:a16="http://schemas.microsoft.com/office/drawing/2014/main" id="{6B13619A-6654-4BC9-98E2-B35169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GAS-LIKE MSD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2AA42-7701-45B6-81BF-0D361F6A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Gas-like: MSD shows the mobility scale behind the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BBF7E-B299-4B53-A1DD-8342ADB1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MSD curve is read together with r6 and nc so that visual order is not confused with dynamical freedom.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B7490-499F-4895-A44C-2B89982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5e0ca8f4147b6"/>
          <a:stretch xmlns:a="http://schemas.openxmlformats.org/drawingml/2006/main"/>
        </p:blipFill>
        <p:spPr>
          <a:xfrm xmlns:a="http://schemas.openxmlformats.org/drawingml/2006/main">
            <a:off x="1377315" y="1952625"/>
            <a:ext cx="4960620" cy="3543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6EA44-B034-4747-9DA1-1147ADF8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49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Mean squared displacement versus lag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A8B0F-7A64-47E7-83EA-5CF98F77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05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0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64F15-E0BC-470C-BD6C-C790B926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71675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r6 low / nc active / MSD ~27.21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9646B-E417-483C-8674-204DC172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28F02-2DAD-47BD-B25F-7DF27D7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6700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A64936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A64936"/>
                </a:solidFill>
                <a:latin typeface="Aptos Mono"/>
                <a:ea typeface="Aptos Mono"/>
                <a:cs typeface="Aptos Mono"/>
              </a:rPr>
              <a:t>MSD(tau) = &lt; |x_i(t+tau) - x_i(t)|^2 &gt;_{i,t}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6AAA9-B08C-4F65-A978-C678CD7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342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3F388-A364-4C27-A7DA-E1326E3B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147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Physical 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AAB1A-4225-4A05-9757-F024D87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38600"/>
            <a:ext cx="3086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Final repeated-seed MSD mean is about 27.21 with large seed variation, indicating active dispersal rather than controlled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2B3B8-E814-4E12-89E5-D40094E8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53AC7-1A72-4207-8D98-31A8CE8F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95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Classification 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3FAD7-BB79-429D-BB45-827E5A8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197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56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MSD with high r6 indicates constrained order; high MSD with persistent nc indicates reconfiguration; high MSD with low r6 indicates dispersal.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A9BFD-6990-4EAA-A240-E2A794A3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4451E-397A-48FE-9830-90662782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112D5-AD3F-406D-B5F6-40BDF54C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224141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62AC5-88C2-4A64-B7C9-C8FD63E0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6">
            <a:extLst xmlns:a="http://schemas.openxmlformats.org/drawingml/2006/main">
              <a:ext uri="{FF2B5EF4-FFF2-40B4-BE49-F238E27FC236}">
                <a16:creationId xmlns:a16="http://schemas.microsoft.com/office/drawing/2014/main" id="{CA609D10-AE54-4E9A-A3FA-8773C3F0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6">
            <a:extLst xmlns:a="http://schemas.openxmlformats.org/drawingml/2006/main">
              <a:ext uri="{FF2B5EF4-FFF2-40B4-BE49-F238E27FC236}">
                <a16:creationId xmlns:a16="http://schemas.microsoft.com/office/drawing/2014/main" id="{38F277DF-2C2D-4C77-B938-90CB42B8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REPEATED-SEED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05DBE-773E-4C56-A1B4-6B106B32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Repeated MSD confirms the mobility ranking is not a single-run accident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EB098-6743-4424-B3D1-1A12C8A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Each phase was repeated for seeds 7, 17, and 29 in the report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6E691-7E91-48F5-935B-1BCFEB5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95f58c0d7498a"/>
          <a:stretch xmlns:a="http://schemas.openxmlformats.org/drawingml/2006/main"/>
        </p:blipFill>
        <p:spPr>
          <a:xfrm xmlns:a="http://schemas.openxmlformats.org/drawingml/2006/main">
            <a:off x="1594247" y="1905000"/>
            <a:ext cx="5003006" cy="3638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F8616-1ED1-4847-B9C9-CCAF8C0A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697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Mean MSD with one-standard-deviation envelope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17195-343E-404E-AEDB-7015E12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Final MSD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E5BD2-D066-45FC-9596-60B59923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26937-5397-461D-B0C8-006CF898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Active crystal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7AA24-587E-4731-803C-7EA8B89F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57450"/>
            <a:ext cx="904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65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3.59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C6DFB-1195-4A94-AEC7-5458313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765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constrained ordered 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5E21B-5656-4F1E-BDDE-1404690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282BF-2B57-4FDA-906E-13DCA60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Active glass-like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CF020-A0E1-4F9D-BE71-9E204E6D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904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650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2.62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6D927-ECE3-404C-942C-590E80AD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04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most dynamically restricted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037BA-E22A-4F86-9432-AA175EC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88A6B-11AF-4324-AB71-7204EFA4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Liquid-like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0014E-CC28-44EC-AFFE-C939D21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05250"/>
            <a:ext cx="904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6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71.37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BE7FE-7DE4-45BB-8DD3-9CD7D06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largest controlled mobility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14D9C-FAB8-4FF1-A0E6-B6C09145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7D92F-D904-486E-A5C5-C9B2172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Gas-like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F01A8-632A-426C-A626-2EA05C23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904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650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27.21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011AA-FCA6-4448-9251-7763432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482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mobile but seed-sensitive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83F90-2445-4530-A0A1-EEE2D7F6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7BFBD-167F-4272-8CEA-B821DAC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C6F5C-7E1B-44E4-92B0-258CFC2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86450"/>
            <a:ext cx="2800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25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Liquid-like Robo-Matter is not merely disordered: it combines mobility with persistent interaction. Gas-like motion is mobile too, but less controlled and less cohesive.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D6EB2-5105-4950-B80D-0D89491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9F7017-A8BE-4A9C-AC08-7B0A392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307BD5-CF15-4D3D-ADA1-FBD98E68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253395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EA406-5D0D-4576-B620-86A97DF3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7">
            <a:extLst xmlns:a="http://schemas.openxmlformats.org/drawingml/2006/main">
              <a:ext uri="{FF2B5EF4-FFF2-40B4-BE49-F238E27FC236}">
                <a16:creationId xmlns:a16="http://schemas.microsoft.com/office/drawing/2014/main" id="{5D8C705E-ADE1-4C46-863F-B4015EFF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7">
            <a:extLst xmlns:a="http://schemas.openxmlformats.org/drawingml/2006/main">
              <a:ext uri="{FF2B5EF4-FFF2-40B4-BE49-F238E27FC236}">
                <a16:creationId xmlns:a16="http://schemas.microsoft.com/office/drawing/2014/main" id="{6D2ACDFA-E182-4F7F-842A-8968D42A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CROSS-PHASE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F5EE9-DD36-4283-8AC4-A6EF849E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useful adaptive regime lies between rigid arrest and complete dispersion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3EBF8-0FB0-448B-A50B-84FCEC7C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same model produces four states by changing activity, attraction, density, and interaction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59E55-2BA4-40DE-B815-9788E884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Metric 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E1892-52AD-4036-9E0A-8D5C4EC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6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Physical 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1AC2E-10B2-4E82-97AB-6276D03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Likely regime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4B1ED-DE3F-4813-8ADC-D0EA817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53DE2-586C-482D-9365-016688F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high r6, low 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9022A-B2A7-4FA8-B9A0-6515215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955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stable local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6E4FE-654C-43CB-89F0-53E3F300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955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active crystal / arrested glass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2F4D9-9563-44B7-8872-135282D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94B94-273C-41A8-B7BF-A197E04C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medium-high r6, high 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DCCEE-A2FE-4165-AAB7-1025749C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structured but flowing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D1CFE-3E73-4F60-9585-785E30EC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liquid-like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55803-4E3E-4628-AC80-2FAE793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A23AE-994E-48A3-AC26-4BEDBB2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low r6, high nc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9E5D4-D67D-43AE-A1D4-3B698B5F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147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mobile disorder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D219B-DDF6-4451-B8D3-CAC7107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gas-like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BDC5F-4306-481D-903E-9E336E99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328C5-49AE-4EC1-A797-5BC15218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low r6, low 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8A4CE-D5A4-468D-BC03-D07C065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243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frozen disorder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1C24C-AA03-4F9C-A95F-39ECC092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243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deep glass limit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AF015-A8A5-4342-8E62-570532AD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38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F6DAB-C208-4285-BDDC-EA0506DF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33975"/>
            <a:ext cx="8039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glass-like -&gt; active crystal -&gt; liquid-like -&gt; gas-like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      increase activity / weaken binding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33CA9-A5A2-4369-8498-F6ED39D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FB2C1-FED7-43C9-B948-5803250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Suraj BTP-2 | Simulation and Analysis of Robo-Matter | project-generated plots and videos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E504A7-D242-4DAA-84F3-5A4313A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50609245"/>
      </p:ext>
    </p:extLst>
  </p:cSld>
</p:sld>
</file>

<file path=ppt/slides/slide18.xml><?xml version="1.0" encoding="utf-8"?>
<ns0:sld xmlns:a="http://schemas.openxmlformats.org/drawingml/2006/main" xmlns:ns0="http://schemas.openxmlformats.org/presentationml/2006/main" xmlns:ns2="http://schemas.microsoft.com/office/drawing/2014/main" xmlns:ns4="http://schemas.microsoft.com/office/powerpoint/2010/main" xmlns:r="http://schemas.openxmlformats.org/officeDocument/2006/relationships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8462B03-C543-485F-A95F-9D6EC380892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B4C72175-E2AC-47AD-B687-FB45A986605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kicker-marker-18">
            <a:extLst>
              <a:ext uri="{FF2B5EF4-FFF2-40B4-BE49-F238E27FC236}">
                <ns2:creationId id="{74C6C6BE-18EB-4F27-95C2-095F7234595F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95250" cy="95250"/>
          </a:xfrm>
          <a:prstGeom prst="rect">
            <a:avLst/>
          </a:prstGeom>
          <a:solidFill>
            <a:srgbClr val="2D7D4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kicker-label-18">
            <a:extLst>
              <a:ext uri="{FF2B5EF4-FFF2-40B4-BE49-F238E27FC236}">
                <ns2:creationId id="{81A3949C-6A93-4024-9973-C7CA496441DE}"/>
              </a:ext>
            </a:extLst>
          </ns0:cNvPr>
          <ns0:cNvSpPr>
            <a:spLocks noGrp="1"/>
          </ns0:cNvSpPr>
          <ns0:nvPr/>
        </ns0:nvSpPr>
        <ns0:spPr>
          <a:xfrm>
            <a:off x="628650" y="219075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C9D5E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5E2"/>
                </a:solidFill>
                <a:latin typeface="Aptos"/>
                <a:ea typeface="Aptos"/>
                <a:cs typeface="Aptos"/>
              </a:rPr>
              <a:t>CONCLUSION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61664BFD-9068-4A8F-AE04-AD8B2F1FCCFF}"/>
              </a:ext>
            </a:extLst>
          </ns0:cNvPr>
          <ns0:cNvSpPr>
            <a:spLocks noGrp="1"/>
          </ns0:cNvSpPr>
          <ns0:nvPr/>
        </ns0:nvSpPr>
        <ns0:spPr>
          <a:xfrm>
            <a:off x="514350" y="685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Robo-Matter behavior emerges from local active magnetic rules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9AA6972-C76A-4099-AE95-153E058681F4}"/>
              </a:ext>
            </a:extLst>
          </ns0:cNvPr>
          <ns0:cNvSpPr>
            <a:spLocks noGrp="1"/>
          </ns0:cNvSpPr>
          <ns0:nvPr/>
        </ns0:nvSpPr>
        <ns0:spPr>
          <a:xfrm>
            <a:off x="552450" y="1952625"/>
            <a:ext cx="4953000" cy="1104900"/>
          </a:xfrm>
          <a:prstGeom prst="rect">
            <a:avLst/>
          </a:prstGeom>
          <a:solidFill>
            <a:srgbClr val="F1FFF3"/>
          </a:solidFill>
          <a:ln w="9525">
            <a:solidFill>
              <a:srgbClr val="2D7D46"/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B64E1030-8F6C-46D9-8FAA-BB6B0092CB09}"/>
              </a:ext>
            </a:extLst>
          </ns0:cNvPr>
          <ns0:cNvSpPr>
            <a:spLocks noGrp="1"/>
          </ns0:cNvSpPr>
          <ns0:nvPr/>
        </ns0:nvSpPr>
        <ns0:spPr>
          <a:xfrm>
            <a:off x="723900" y="2085975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12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Main result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D2261F9-E161-4143-BFE6-EA68DD07DE94}"/>
              </a:ext>
            </a:extLst>
          </ns0:cNvPr>
          <ns0:cNvSpPr>
            <a:spLocks noGrp="1"/>
          </ns0:cNvSpPr>
          <ns0:nvPr/>
        </ns0:nvSpPr>
        <ns0:spPr>
          <a:xfrm>
            <a:off x="723900" y="2409825"/>
            <a:ext cx="4610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81497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single six-site active Magbot model reproduces active-crystal, active-glass-like, liquid-like, and gas-like regimes using interpretable dynamics and multiple diagnostics.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91B6E63C-718A-471C-8FAC-66B033696300}"/>
              </a:ext>
            </a:extLst>
          </ns0:cNvPr>
          <ns0:cNvSpPr>
            <a:spLocks noGrp="1"/>
          </ns0:cNvSpPr>
          <ns0:nvPr/>
        </ns0:nvSpPr>
        <ns0:spPr>
          <a:xfrm>
            <a:off x="552450" y="3286125"/>
            <a:ext cx="4953000" cy="990600"/>
          </a:xfrm>
          <a:prstGeom prst="rect">
            <a:avLst/>
          </a:prstGeom>
          <a:solidFill>
            <a:srgbClr val="FFF6DD"/>
          </a:solidFill>
          <a:ln w="9525">
            <a:solidFill>
              <a:srgbClr val="A66A00"/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9409E341-9234-49E3-9CB6-B1BFB3F52956}"/>
              </a:ext>
            </a:extLst>
          </ns0:cNvPr>
          <ns0:cNvSpPr>
            <a:spLocks noGrp="1"/>
          </ns0:cNvSpPr>
          <ns0:nvPr/>
        </ns0:nvSpPr>
        <ns0:spPr>
          <a:xfrm>
            <a:off x="723900" y="3419475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12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Limitations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538872FE-7D5E-472B-B16C-A613A14D6A85}"/>
              </a:ext>
            </a:extLst>
          </ns0:cNvPr>
          <ns0:cNvSpPr>
            <a:spLocks noGrp="1"/>
          </ns0:cNvSpPr>
          <ns0:nvPr/>
        </ns0:nvSpPr>
        <ns0:spPr>
          <a:xfrm>
            <a:off x="723900" y="3743325"/>
            <a:ext cx="4610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80468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magnetic interaction is simplified, light response is phenomenological, and broader parameter sweeps with more seeds are needed for quantitative phase boundaries.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2BC0A32E-596B-4C8B-99AF-1E2B7A56DAFB}"/>
              </a:ext>
            </a:extLst>
          </ns0:cNvPr>
          <ns0:cNvSpPr>
            <a:spLocks noGrp="1"/>
          </ns0:cNvSpPr>
          <ns0:nvPr/>
        </ns0:nvSpPr>
        <ns0:spPr>
          <a:xfrm>
            <a:off x="552450" y="4495800"/>
            <a:ext cx="4953000" cy="1066800"/>
          </a:xfrm>
          <a:prstGeom prst="rect">
            <a:avLst/>
          </a:prstGeom>
          <a:solidFill>
            <a:srgbClr val="EDF5FF"/>
          </a:solidFill>
          <a:ln w="9525">
            <a:solidFill>
              <a:srgbClr val="1F4E79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883CB31E-8710-42C4-88E8-C1970E7936E0}"/>
              </a:ext>
            </a:extLst>
          </ns0:cNvPr>
          <ns0:cNvSpPr>
            <a:spLocks noGrp="1"/>
          </ns0:cNvSpPr>
          <ns0:nvPr/>
        </ns0:nvSpPr>
        <ns0:spPr>
          <a:xfrm>
            <a:off x="723900" y="462915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Future work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602E4E63-805A-4309-A00F-7B65FAD96B33}"/>
              </a:ext>
            </a:extLst>
          </ns0:cNvPr>
          <ns0:cNvSpPr>
            <a:spLocks noGrp="1"/>
          </ns0:cNvSpPr>
          <ns0:nvPr/>
        </ns0:nvSpPr>
        <ns0:spPr>
          <a:xfrm>
            <a:off x="723900" y="49530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79356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Extend repeated-seed statistics, compute radial distribution and cluster-size metrics, test feedback control, and compare against experimental Robo-Matter phase boundaries.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2F8417C6-F00A-4617-AEC2-ED44299D3525}"/>
              </a:ext>
            </a:extLst>
          </ns0:cNvPr>
          <ns0:cNvSpPr>
            <a:spLocks noGrp="1"/>
          </ns0:cNvSpPr>
          <ns0:nvPr/>
        </ns0:nvSpPr>
        <ns0:spPr>
          <a:xfrm>
            <a:off x="6286500" y="20002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D8E2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E2EC"/>
                </a:solidFill>
                <a:latin typeface="Aptos"/>
                <a:ea typeface="Aptos"/>
                <a:cs typeface="Aptos"/>
              </a:rPr>
              <a:t>Video index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83F6AB8C-25AB-4804-B963-B6F26674967E}"/>
              </a:ext>
            </a:extLst>
          </ns0:cNvPr>
          <ns0:cNvSpPr>
            <a:spLocks noGrp="1"/>
          </ns0:cNvSpPr>
          <ns0:nvPr/>
        </ns0:nvSpPr>
        <ns0:spPr>
          <a:xfrm>
            <a:off x="6286500" y="2457450"/>
            <a:ext cx="4857750" cy="47625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2D7D46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44BD3C3A-DE31-4B7C-8125-03837E84390A}"/>
              </a:ext>
            </a:extLst>
          </ns0:cNvPr>
          <ns0:cNvSpPr>
            <a:spLocks noGrp="1"/>
          </ns0:cNvSpPr>
          <ns0:nvPr/>
        </ns0:nvSpPr>
        <ns0:spPr>
          <a:xfrm>
            <a:off x="6477000" y="25336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D7D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7D46"/>
                </a:solidFill>
                <a:latin typeface="Aptos"/>
                <a:ea typeface="Aptos"/>
                <a:cs typeface="Aptos"/>
              </a:rPr>
              <a:t>Active crystal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DD67111E-6283-449E-9252-5E1A5C3CC577}"/>
              </a:ext>
            </a:extLst>
          </ns0:cNvPr>
          <ns0:cNvSpPr>
            <a:spLocks noGrp="1"/>
          </ns0:cNvSpPr>
          <ns0:nvPr/>
        </ns0:nvSpPr>
        <ns0:spPr>
          <a:xfrm>
            <a:off x="8096250" y="25241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7567"/>
          </a:bodyPr>
          <a:lstStyle/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1"/>
              </a:rPr>
              <a:t>BTP-2/states/simulation/active_crystal_like.mp4</a:t>
            </a:r>
          </a:p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1"/>
              </a:rPr>
              <a:t>https://github.com/suraj4556kumar-sketch/Robo_matter_duality/blob/main/BTP-2/states/simulation/active_crystal_like.mp4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6A8B44BC-37FA-406D-B516-69890532228E}"/>
              </a:ext>
            </a:extLst>
          </ns0:cNvPr>
          <ns0:cNvSpPr>
            <a:spLocks noGrp="1"/>
          </ns0:cNvSpPr>
          <ns0:nvPr/>
        </ns0:nvSpPr>
        <ns0:spPr>
          <a:xfrm>
            <a:off x="6286500" y="3162300"/>
            <a:ext cx="4857750" cy="47625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A66A00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A30E4FD4-D8EE-41AB-927D-B9C22E17D4D1}"/>
              </a:ext>
            </a:extLst>
          </ns0:cNvPr>
          <ns0:cNvSpPr>
            <a:spLocks noGrp="1"/>
          </ns0:cNvSpPr>
          <ns0:nvPr/>
        </ns0:nvSpPr>
        <ns0:spPr>
          <a:xfrm>
            <a:off x="6477000" y="32385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A66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6A00"/>
                </a:solidFill>
                <a:latin typeface="Aptos"/>
                <a:ea typeface="Aptos"/>
                <a:cs typeface="Aptos"/>
              </a:rPr>
              <a:t>Active glass-like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269E9EB3-3EDE-4647-8E60-F70C5DBB66C6}"/>
              </a:ext>
            </a:extLst>
          </ns0:cNvPr>
          <ns0:cNvSpPr>
            <a:spLocks noGrp="1"/>
          </ns0:cNvSpPr>
          <ns0:nvPr/>
        </ns0:nvSpPr>
        <ns0:spPr>
          <a:xfrm>
            <a:off x="8096250" y="32289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7567"/>
          </a:bodyPr>
          <a:lstStyle/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2"/>
              </a:rPr>
              <a:t>BTP-2/states/simulation/active_glass.mp4</a:t>
            </a:r>
          </a:p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2"/>
              </a:rPr>
              <a:t>https://github.com/suraj4556kumar-sketch/Robo_matter_duality/blob/main/BTP-2/states/simulation/active_glass.mp4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F82E4DF1-754D-4AC9-A366-406C2D57570E}"/>
              </a:ext>
            </a:extLst>
          </ns0:cNvPr>
          <ns0:cNvSpPr>
            <a:spLocks noGrp="1"/>
          </ns0:cNvSpPr>
          <ns0:nvPr/>
        </ns0:nvSpPr>
        <ns0:spPr>
          <a:xfrm>
            <a:off x="6286500" y="3867150"/>
            <a:ext cx="4857750" cy="47625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1F4E79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624287FF-38E9-423E-80DD-3C6EFB6EDE6B}"/>
              </a:ext>
            </a:extLst>
          </ns0:cNvPr>
          <ns0:cNvSpPr>
            <a:spLocks noGrp="1"/>
          </ns0:cNvSpPr>
          <ns0:nvPr/>
        </ns0:nvSpPr>
        <ns0:spPr>
          <a:xfrm>
            <a:off x="6477000" y="39433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Liquid-like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9E641E6F-F6B0-4EE8-BFDF-F10773859DFD}"/>
              </a:ext>
            </a:extLst>
          </ns0:cNvPr>
          <ns0:cNvSpPr>
            <a:spLocks noGrp="1"/>
          </ns0:cNvSpPr>
          <ns0:nvPr/>
        </ns0:nvSpPr>
        <ns0:spPr>
          <a:xfrm>
            <a:off x="8096250" y="39338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7567"/>
          </a:bodyPr>
          <a:lstStyle/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3"/>
              </a:rPr>
              <a:t>BTP-2/states/simulation/liquid_like.mp4</a:t>
            </a:r>
          </a:p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3"/>
              </a:rPr>
              <a:t>https://github.com/suraj4556kumar-sketch/Robo_matter_duality/blob/main/BTP-2/states/simulation/liquid_like.mp4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B860E7B0-8391-45C6-B7D2-D1C52D1D5E39}"/>
              </a:ext>
            </a:extLst>
          </ns0:cNvPr>
          <ns0:cNvSpPr>
            <a:spLocks noGrp="1"/>
          </ns0:cNvSpPr>
          <ns0:nvPr/>
        </ns0:nvSpPr>
        <ns0:spPr>
          <a:xfrm>
            <a:off x="6286500" y="4572000"/>
            <a:ext cx="4857750" cy="47625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A64936"/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2FA560AD-C1AC-42AA-BC84-D636B181FD69}"/>
              </a:ext>
            </a:extLst>
          </ns0:cNvPr>
          <ns0:cNvSpPr>
            <a:spLocks noGrp="1"/>
          </ns0:cNvSpPr>
          <ns0:nvPr/>
        </ns0:nvSpPr>
        <ns0:spPr>
          <a:xfrm>
            <a:off x="6477000" y="46482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A649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4936"/>
                </a:solidFill>
                <a:latin typeface="Aptos"/>
                <a:ea typeface="Aptos"/>
                <a:cs typeface="Aptos"/>
              </a:rPr>
              <a:t>Gas-like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F6C0D572-8FEB-431A-A5FC-DBEF64A3005E}"/>
              </a:ext>
            </a:extLst>
          </ns0:cNvPr>
          <ns0:cNvSpPr>
            <a:spLocks noGrp="1"/>
          </ns0:cNvSpPr>
          <ns0:nvPr/>
        </ns0:nvSpPr>
        <ns0:spPr>
          <a:xfrm>
            <a:off x="8096250" y="46386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97567"/>
          </a:bodyPr>
          <a:lstStyle/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4"/>
              </a:rPr>
              <a:t>BTP-2/states/simulation/gas_like.mp4</a:t>
            </a:r>
          </a:p>
          <a:p>
            <a:pPr algn="l">
              <a:lnSpc>
                <a:spcPct val="110000"/>
              </a:lnSpc>
              <a:buNone/>
              <a:def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4"/>
              </a:rPr>
              <a:t>https://github.com/suraj4556kumar-sketch/Robo_matter_duality/blob/main/BTP-2/states/simulation/gas_like.mp4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43B676E3-D181-472B-AEE0-C7F16BF06589}"/>
              </a:ext>
            </a:extLst>
          </ns0:cNvPr>
          <ns0:cNvSpPr>
            <a:spLocks noGrp="1"/>
          </ns0:cNvSpPr>
          <ns0:nvPr/>
        </ns0:nvSpPr>
        <ns0:spPr>
          <a:xfrm>
            <a:off x="6286500" y="561975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D8E2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8E2EC"/>
                </a:solidFill>
                <a:latin typeface="Aptos Mono"/>
                <a:ea typeface="Aptos Mono"/>
                <a:cs typeface="Aptos Mono"/>
                <a:hlinkClick r:id="rIdVideo18_5"/>
              </a:rPr>
              <a:t>Report and code: https://github.com/suraj4556kumar-sketch/Robo_matter_duality/blob/main/BTP-2</a:t>
            </a:r>
          </a:p>
        </ns0:txBody>
      </ns0:sp>
    </ns0:spTree>
    <ns0:extLst>
      <ns0:ext uri="{BB962C8B-B14F-4D97-AF65-F5344CB8AC3E}">
        <ns4:creationId val="105536966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2026-05-03T08:16:42.0430000Z</dcterms:created>
  <dcterms:modified xsi:type="dcterms:W3CDTF">2026-05-03T08:16:42.0430000Z</dcterms:modified>
</coreProperties>
</file>